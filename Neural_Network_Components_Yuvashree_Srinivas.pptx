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72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E4AF09-8DBE-4BF4-96C6-1AD50A09854A}"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82183F6B-9C58-4ECE-B625-1C55F0657066}">
      <dgm:prSet/>
      <dgm:spPr/>
      <dgm:t>
        <a:bodyPr/>
        <a:lstStyle/>
        <a:p>
          <a:r>
            <a:rPr lang="en-US"/>
            <a:t>• Measures how far the model’s predictions are from the true values.</a:t>
          </a:r>
        </a:p>
      </dgm:t>
    </dgm:pt>
    <dgm:pt modelId="{067D0CF9-DFE5-4098-BCFD-3846AD6EECBE}" type="parTrans" cxnId="{E75E181F-E13A-43F3-87A9-1E43120528C1}">
      <dgm:prSet/>
      <dgm:spPr/>
      <dgm:t>
        <a:bodyPr/>
        <a:lstStyle/>
        <a:p>
          <a:endParaRPr lang="en-US"/>
        </a:p>
      </dgm:t>
    </dgm:pt>
    <dgm:pt modelId="{1622AFBD-512D-43B7-9B49-EBBAEBA4221F}" type="sibTrans" cxnId="{E75E181F-E13A-43F3-87A9-1E43120528C1}">
      <dgm:prSet/>
      <dgm:spPr/>
      <dgm:t>
        <a:bodyPr/>
        <a:lstStyle/>
        <a:p>
          <a:endParaRPr lang="en-US"/>
        </a:p>
      </dgm:t>
    </dgm:pt>
    <dgm:pt modelId="{D8A7BCAD-9706-4ADD-9BBF-BA931B25501B}">
      <dgm:prSet/>
      <dgm:spPr/>
      <dgm:t>
        <a:bodyPr/>
        <a:lstStyle/>
        <a:p>
          <a:r>
            <a:rPr lang="en-US"/>
            <a:t>• Lower loss = better model performance.</a:t>
          </a:r>
        </a:p>
      </dgm:t>
    </dgm:pt>
    <dgm:pt modelId="{659159C7-4E61-483D-BFF1-BC866DA6C734}" type="parTrans" cxnId="{3B9B877E-514F-4658-A80C-F55E356E822B}">
      <dgm:prSet/>
      <dgm:spPr/>
      <dgm:t>
        <a:bodyPr/>
        <a:lstStyle/>
        <a:p>
          <a:endParaRPr lang="en-US"/>
        </a:p>
      </dgm:t>
    </dgm:pt>
    <dgm:pt modelId="{525D837E-1994-498D-8965-1D1C65CC8F68}" type="sibTrans" cxnId="{3B9B877E-514F-4658-A80C-F55E356E822B}">
      <dgm:prSet/>
      <dgm:spPr/>
      <dgm:t>
        <a:bodyPr/>
        <a:lstStyle/>
        <a:p>
          <a:endParaRPr lang="en-US"/>
        </a:p>
      </dgm:t>
    </dgm:pt>
    <dgm:pt modelId="{8F664BBB-F82C-456C-8479-723FE248476B}">
      <dgm:prSet/>
      <dgm:spPr/>
      <dgm:t>
        <a:bodyPr/>
        <a:lstStyle/>
        <a:p>
          <a:r>
            <a:rPr lang="en-US"/>
            <a:t>• Examples:</a:t>
          </a:r>
        </a:p>
      </dgm:t>
    </dgm:pt>
    <dgm:pt modelId="{222A4A28-B3D9-405A-925F-89418AE57159}" type="parTrans" cxnId="{DA0827DB-64CA-467D-976D-EF9CE9466392}">
      <dgm:prSet/>
      <dgm:spPr/>
      <dgm:t>
        <a:bodyPr/>
        <a:lstStyle/>
        <a:p>
          <a:endParaRPr lang="en-US"/>
        </a:p>
      </dgm:t>
    </dgm:pt>
    <dgm:pt modelId="{7F058672-6EC0-4305-9B1B-E30C1F42DBDD}" type="sibTrans" cxnId="{DA0827DB-64CA-467D-976D-EF9CE9466392}">
      <dgm:prSet/>
      <dgm:spPr/>
      <dgm:t>
        <a:bodyPr/>
        <a:lstStyle/>
        <a:p>
          <a:endParaRPr lang="en-US"/>
        </a:p>
      </dgm:t>
    </dgm:pt>
    <dgm:pt modelId="{75C6C041-6FC0-4AF0-AAE6-CBBAD82CD023}">
      <dgm:prSet/>
      <dgm:spPr/>
      <dgm:t>
        <a:bodyPr/>
        <a:lstStyle/>
        <a:p>
          <a:r>
            <a:rPr lang="en-US"/>
            <a:t>- Mean Squared Error (MSE) – used for regression tasks.</a:t>
          </a:r>
        </a:p>
      </dgm:t>
    </dgm:pt>
    <dgm:pt modelId="{838338B7-7A3C-42F3-BFB3-B70DFEF2D5DF}" type="parTrans" cxnId="{27AB0FD7-A465-42A3-A66D-556F2AAD984B}">
      <dgm:prSet/>
      <dgm:spPr/>
      <dgm:t>
        <a:bodyPr/>
        <a:lstStyle/>
        <a:p>
          <a:endParaRPr lang="en-US"/>
        </a:p>
      </dgm:t>
    </dgm:pt>
    <dgm:pt modelId="{C996FBD2-41EA-4721-A119-2E83E8082511}" type="sibTrans" cxnId="{27AB0FD7-A465-42A3-A66D-556F2AAD984B}">
      <dgm:prSet/>
      <dgm:spPr/>
      <dgm:t>
        <a:bodyPr/>
        <a:lstStyle/>
        <a:p>
          <a:endParaRPr lang="en-US"/>
        </a:p>
      </dgm:t>
    </dgm:pt>
    <dgm:pt modelId="{F0960C9F-AC95-4881-9E80-C2A42DC35EFA}">
      <dgm:prSet/>
      <dgm:spPr/>
      <dgm:t>
        <a:bodyPr/>
        <a:lstStyle/>
        <a:p>
          <a:r>
            <a:rPr lang="en-US"/>
            <a:t>- Cross-Entropy Loss – used for classification problems.</a:t>
          </a:r>
        </a:p>
      </dgm:t>
    </dgm:pt>
    <dgm:pt modelId="{CFF4D221-06D9-46E0-AC06-4CD21AEF87AF}" type="parTrans" cxnId="{BF07E130-E920-459D-8366-226E7A0C0A56}">
      <dgm:prSet/>
      <dgm:spPr/>
      <dgm:t>
        <a:bodyPr/>
        <a:lstStyle/>
        <a:p>
          <a:endParaRPr lang="en-US"/>
        </a:p>
      </dgm:t>
    </dgm:pt>
    <dgm:pt modelId="{C782AB23-5587-421D-BD6F-6F338A500E63}" type="sibTrans" cxnId="{BF07E130-E920-459D-8366-226E7A0C0A56}">
      <dgm:prSet/>
      <dgm:spPr/>
      <dgm:t>
        <a:bodyPr/>
        <a:lstStyle/>
        <a:p>
          <a:endParaRPr lang="en-US"/>
        </a:p>
      </dgm:t>
    </dgm:pt>
    <dgm:pt modelId="{2EF50557-DB01-4702-BD33-F1A1502A951C}" type="pres">
      <dgm:prSet presAssocID="{9DE4AF09-8DBE-4BF4-96C6-1AD50A09854A}" presName="vert0" presStyleCnt="0">
        <dgm:presLayoutVars>
          <dgm:dir/>
          <dgm:animOne val="branch"/>
          <dgm:animLvl val="lvl"/>
        </dgm:presLayoutVars>
      </dgm:prSet>
      <dgm:spPr/>
    </dgm:pt>
    <dgm:pt modelId="{5E2E6B5D-D195-4112-98D0-83C39691885F}" type="pres">
      <dgm:prSet presAssocID="{82183F6B-9C58-4ECE-B625-1C55F0657066}" presName="thickLine" presStyleLbl="alignNode1" presStyleIdx="0" presStyleCnt="5"/>
      <dgm:spPr/>
    </dgm:pt>
    <dgm:pt modelId="{483BD796-9EBA-4878-8B22-5E59CA06CA28}" type="pres">
      <dgm:prSet presAssocID="{82183F6B-9C58-4ECE-B625-1C55F0657066}" presName="horz1" presStyleCnt="0"/>
      <dgm:spPr/>
    </dgm:pt>
    <dgm:pt modelId="{998EE6DE-CB18-4C2C-A677-A5DA448B7CAD}" type="pres">
      <dgm:prSet presAssocID="{82183F6B-9C58-4ECE-B625-1C55F0657066}" presName="tx1" presStyleLbl="revTx" presStyleIdx="0" presStyleCnt="5"/>
      <dgm:spPr/>
    </dgm:pt>
    <dgm:pt modelId="{20F773C0-852E-432A-9FA4-1781D93D6A04}" type="pres">
      <dgm:prSet presAssocID="{82183F6B-9C58-4ECE-B625-1C55F0657066}" presName="vert1" presStyleCnt="0"/>
      <dgm:spPr/>
    </dgm:pt>
    <dgm:pt modelId="{196CD4EF-4B11-4C15-848C-935B962E3831}" type="pres">
      <dgm:prSet presAssocID="{D8A7BCAD-9706-4ADD-9BBF-BA931B25501B}" presName="thickLine" presStyleLbl="alignNode1" presStyleIdx="1" presStyleCnt="5"/>
      <dgm:spPr/>
    </dgm:pt>
    <dgm:pt modelId="{D58B3B98-A36C-4E02-8732-A46F9689EF82}" type="pres">
      <dgm:prSet presAssocID="{D8A7BCAD-9706-4ADD-9BBF-BA931B25501B}" presName="horz1" presStyleCnt="0"/>
      <dgm:spPr/>
    </dgm:pt>
    <dgm:pt modelId="{BCC55161-95DC-45D5-98F5-87CD2FD0D428}" type="pres">
      <dgm:prSet presAssocID="{D8A7BCAD-9706-4ADD-9BBF-BA931B25501B}" presName="tx1" presStyleLbl="revTx" presStyleIdx="1" presStyleCnt="5"/>
      <dgm:spPr/>
    </dgm:pt>
    <dgm:pt modelId="{7070FAF8-8883-467D-8381-7B523865ADA1}" type="pres">
      <dgm:prSet presAssocID="{D8A7BCAD-9706-4ADD-9BBF-BA931B25501B}" presName="vert1" presStyleCnt="0"/>
      <dgm:spPr/>
    </dgm:pt>
    <dgm:pt modelId="{1C074D9F-D08A-4980-A56C-6C2810FD1039}" type="pres">
      <dgm:prSet presAssocID="{8F664BBB-F82C-456C-8479-723FE248476B}" presName="thickLine" presStyleLbl="alignNode1" presStyleIdx="2" presStyleCnt="5"/>
      <dgm:spPr/>
    </dgm:pt>
    <dgm:pt modelId="{C5D4280D-D8A4-429D-8CE8-019F6EC6188A}" type="pres">
      <dgm:prSet presAssocID="{8F664BBB-F82C-456C-8479-723FE248476B}" presName="horz1" presStyleCnt="0"/>
      <dgm:spPr/>
    </dgm:pt>
    <dgm:pt modelId="{D6D153EE-7E6E-4172-BF9B-A8C65CC84EC2}" type="pres">
      <dgm:prSet presAssocID="{8F664BBB-F82C-456C-8479-723FE248476B}" presName="tx1" presStyleLbl="revTx" presStyleIdx="2" presStyleCnt="5"/>
      <dgm:spPr/>
    </dgm:pt>
    <dgm:pt modelId="{4C11C34A-C590-4E7D-81CB-BE8C7A8F6864}" type="pres">
      <dgm:prSet presAssocID="{8F664BBB-F82C-456C-8479-723FE248476B}" presName="vert1" presStyleCnt="0"/>
      <dgm:spPr/>
    </dgm:pt>
    <dgm:pt modelId="{C1FC61DD-E8B6-4A96-A48F-DA419A5B6EF6}" type="pres">
      <dgm:prSet presAssocID="{75C6C041-6FC0-4AF0-AAE6-CBBAD82CD023}" presName="thickLine" presStyleLbl="alignNode1" presStyleIdx="3" presStyleCnt="5"/>
      <dgm:spPr/>
    </dgm:pt>
    <dgm:pt modelId="{EA5CFB2D-8081-4F4D-B0C7-0077DE4A742D}" type="pres">
      <dgm:prSet presAssocID="{75C6C041-6FC0-4AF0-AAE6-CBBAD82CD023}" presName="horz1" presStyleCnt="0"/>
      <dgm:spPr/>
    </dgm:pt>
    <dgm:pt modelId="{D7DDBB67-291C-456D-8267-D05EA47E045A}" type="pres">
      <dgm:prSet presAssocID="{75C6C041-6FC0-4AF0-AAE6-CBBAD82CD023}" presName="tx1" presStyleLbl="revTx" presStyleIdx="3" presStyleCnt="5"/>
      <dgm:spPr/>
    </dgm:pt>
    <dgm:pt modelId="{F2412478-D4EF-4E7B-ABA3-1713631E152A}" type="pres">
      <dgm:prSet presAssocID="{75C6C041-6FC0-4AF0-AAE6-CBBAD82CD023}" presName="vert1" presStyleCnt="0"/>
      <dgm:spPr/>
    </dgm:pt>
    <dgm:pt modelId="{BC3B72DE-3115-4435-AF3B-A24E846CDD36}" type="pres">
      <dgm:prSet presAssocID="{F0960C9F-AC95-4881-9E80-C2A42DC35EFA}" presName="thickLine" presStyleLbl="alignNode1" presStyleIdx="4" presStyleCnt="5"/>
      <dgm:spPr/>
    </dgm:pt>
    <dgm:pt modelId="{B4E85D86-4B1A-4789-9541-66EEF657CD08}" type="pres">
      <dgm:prSet presAssocID="{F0960C9F-AC95-4881-9E80-C2A42DC35EFA}" presName="horz1" presStyleCnt="0"/>
      <dgm:spPr/>
    </dgm:pt>
    <dgm:pt modelId="{3E6AFDC3-AE37-4C7F-BDA0-C70D886434DC}" type="pres">
      <dgm:prSet presAssocID="{F0960C9F-AC95-4881-9E80-C2A42DC35EFA}" presName="tx1" presStyleLbl="revTx" presStyleIdx="4" presStyleCnt="5"/>
      <dgm:spPr/>
    </dgm:pt>
    <dgm:pt modelId="{9CD9C8F6-FCBC-4ADF-AC09-6DDC54100E81}" type="pres">
      <dgm:prSet presAssocID="{F0960C9F-AC95-4881-9E80-C2A42DC35EFA}" presName="vert1" presStyleCnt="0"/>
      <dgm:spPr/>
    </dgm:pt>
  </dgm:ptLst>
  <dgm:cxnLst>
    <dgm:cxn modelId="{E75E181F-E13A-43F3-87A9-1E43120528C1}" srcId="{9DE4AF09-8DBE-4BF4-96C6-1AD50A09854A}" destId="{82183F6B-9C58-4ECE-B625-1C55F0657066}" srcOrd="0" destOrd="0" parTransId="{067D0CF9-DFE5-4098-BCFD-3846AD6EECBE}" sibTransId="{1622AFBD-512D-43B7-9B49-EBBAEBA4221F}"/>
    <dgm:cxn modelId="{BF07E130-E920-459D-8366-226E7A0C0A56}" srcId="{9DE4AF09-8DBE-4BF4-96C6-1AD50A09854A}" destId="{F0960C9F-AC95-4881-9E80-C2A42DC35EFA}" srcOrd="4" destOrd="0" parTransId="{CFF4D221-06D9-46E0-AC06-4CD21AEF87AF}" sibTransId="{C782AB23-5587-421D-BD6F-6F338A500E63}"/>
    <dgm:cxn modelId="{60EED053-1BD0-49E4-B857-8700D3DFBC63}" type="presOf" srcId="{D8A7BCAD-9706-4ADD-9BBF-BA931B25501B}" destId="{BCC55161-95DC-45D5-98F5-87CD2FD0D428}" srcOrd="0" destOrd="0" presId="urn:microsoft.com/office/officeart/2008/layout/LinedList"/>
    <dgm:cxn modelId="{E0690A7C-B22F-488B-9608-515FB91EBCE7}" type="presOf" srcId="{F0960C9F-AC95-4881-9E80-C2A42DC35EFA}" destId="{3E6AFDC3-AE37-4C7F-BDA0-C70D886434DC}" srcOrd="0" destOrd="0" presId="urn:microsoft.com/office/officeart/2008/layout/LinedList"/>
    <dgm:cxn modelId="{3B9B877E-514F-4658-A80C-F55E356E822B}" srcId="{9DE4AF09-8DBE-4BF4-96C6-1AD50A09854A}" destId="{D8A7BCAD-9706-4ADD-9BBF-BA931B25501B}" srcOrd="1" destOrd="0" parTransId="{659159C7-4E61-483D-BFF1-BC866DA6C734}" sibTransId="{525D837E-1994-498D-8965-1D1C65CC8F68}"/>
    <dgm:cxn modelId="{907B1180-5D2F-4985-9D46-1D43234D82AA}" type="presOf" srcId="{9DE4AF09-8DBE-4BF4-96C6-1AD50A09854A}" destId="{2EF50557-DB01-4702-BD33-F1A1502A951C}" srcOrd="0" destOrd="0" presId="urn:microsoft.com/office/officeart/2008/layout/LinedList"/>
    <dgm:cxn modelId="{27AB0FD7-A465-42A3-A66D-556F2AAD984B}" srcId="{9DE4AF09-8DBE-4BF4-96C6-1AD50A09854A}" destId="{75C6C041-6FC0-4AF0-AAE6-CBBAD82CD023}" srcOrd="3" destOrd="0" parTransId="{838338B7-7A3C-42F3-BFB3-B70DFEF2D5DF}" sibTransId="{C996FBD2-41EA-4721-A119-2E83E8082511}"/>
    <dgm:cxn modelId="{DA0827DB-64CA-467D-976D-EF9CE9466392}" srcId="{9DE4AF09-8DBE-4BF4-96C6-1AD50A09854A}" destId="{8F664BBB-F82C-456C-8479-723FE248476B}" srcOrd="2" destOrd="0" parTransId="{222A4A28-B3D9-405A-925F-89418AE57159}" sibTransId="{7F058672-6EC0-4305-9B1B-E30C1F42DBDD}"/>
    <dgm:cxn modelId="{1264E2E2-AF57-44BF-B982-5523266F0DF3}" type="presOf" srcId="{75C6C041-6FC0-4AF0-AAE6-CBBAD82CD023}" destId="{D7DDBB67-291C-456D-8267-D05EA47E045A}" srcOrd="0" destOrd="0" presId="urn:microsoft.com/office/officeart/2008/layout/LinedList"/>
    <dgm:cxn modelId="{4DA138EB-AE63-43BC-A596-67C23ECC3B15}" type="presOf" srcId="{8F664BBB-F82C-456C-8479-723FE248476B}" destId="{D6D153EE-7E6E-4172-BF9B-A8C65CC84EC2}" srcOrd="0" destOrd="0" presId="urn:microsoft.com/office/officeart/2008/layout/LinedList"/>
    <dgm:cxn modelId="{84DB13FA-AF0B-48AC-95DF-3E49047B9B05}" type="presOf" srcId="{82183F6B-9C58-4ECE-B625-1C55F0657066}" destId="{998EE6DE-CB18-4C2C-A677-A5DA448B7CAD}" srcOrd="0" destOrd="0" presId="urn:microsoft.com/office/officeart/2008/layout/LinedList"/>
    <dgm:cxn modelId="{4952E715-4034-4D4B-97E7-239AEDADFBCF}" type="presParOf" srcId="{2EF50557-DB01-4702-BD33-F1A1502A951C}" destId="{5E2E6B5D-D195-4112-98D0-83C39691885F}" srcOrd="0" destOrd="0" presId="urn:microsoft.com/office/officeart/2008/layout/LinedList"/>
    <dgm:cxn modelId="{93B35771-D876-409A-8D99-3B4F1FC1BBEC}" type="presParOf" srcId="{2EF50557-DB01-4702-BD33-F1A1502A951C}" destId="{483BD796-9EBA-4878-8B22-5E59CA06CA28}" srcOrd="1" destOrd="0" presId="urn:microsoft.com/office/officeart/2008/layout/LinedList"/>
    <dgm:cxn modelId="{BBB1C038-C753-420C-93DC-2C433DE7CA1D}" type="presParOf" srcId="{483BD796-9EBA-4878-8B22-5E59CA06CA28}" destId="{998EE6DE-CB18-4C2C-A677-A5DA448B7CAD}" srcOrd="0" destOrd="0" presId="urn:microsoft.com/office/officeart/2008/layout/LinedList"/>
    <dgm:cxn modelId="{43D86680-D390-4937-8994-059025A44F0A}" type="presParOf" srcId="{483BD796-9EBA-4878-8B22-5E59CA06CA28}" destId="{20F773C0-852E-432A-9FA4-1781D93D6A04}" srcOrd="1" destOrd="0" presId="urn:microsoft.com/office/officeart/2008/layout/LinedList"/>
    <dgm:cxn modelId="{7020747C-8BBC-4E4D-BB11-CC118EBA3DCF}" type="presParOf" srcId="{2EF50557-DB01-4702-BD33-F1A1502A951C}" destId="{196CD4EF-4B11-4C15-848C-935B962E3831}" srcOrd="2" destOrd="0" presId="urn:microsoft.com/office/officeart/2008/layout/LinedList"/>
    <dgm:cxn modelId="{F30FC6BB-EBC0-4ACD-BA09-4597804DAA19}" type="presParOf" srcId="{2EF50557-DB01-4702-BD33-F1A1502A951C}" destId="{D58B3B98-A36C-4E02-8732-A46F9689EF82}" srcOrd="3" destOrd="0" presId="urn:microsoft.com/office/officeart/2008/layout/LinedList"/>
    <dgm:cxn modelId="{08E58C5A-1D49-400C-9100-6735E8509016}" type="presParOf" srcId="{D58B3B98-A36C-4E02-8732-A46F9689EF82}" destId="{BCC55161-95DC-45D5-98F5-87CD2FD0D428}" srcOrd="0" destOrd="0" presId="urn:microsoft.com/office/officeart/2008/layout/LinedList"/>
    <dgm:cxn modelId="{5ADFF236-79C8-4079-9BE3-E624858DB7BA}" type="presParOf" srcId="{D58B3B98-A36C-4E02-8732-A46F9689EF82}" destId="{7070FAF8-8883-467D-8381-7B523865ADA1}" srcOrd="1" destOrd="0" presId="urn:microsoft.com/office/officeart/2008/layout/LinedList"/>
    <dgm:cxn modelId="{5C0D6D1A-8D79-4127-9DB3-20750F6C2F04}" type="presParOf" srcId="{2EF50557-DB01-4702-BD33-F1A1502A951C}" destId="{1C074D9F-D08A-4980-A56C-6C2810FD1039}" srcOrd="4" destOrd="0" presId="urn:microsoft.com/office/officeart/2008/layout/LinedList"/>
    <dgm:cxn modelId="{EDCC9253-D7E1-4005-A949-36419A9C2238}" type="presParOf" srcId="{2EF50557-DB01-4702-BD33-F1A1502A951C}" destId="{C5D4280D-D8A4-429D-8CE8-019F6EC6188A}" srcOrd="5" destOrd="0" presId="urn:microsoft.com/office/officeart/2008/layout/LinedList"/>
    <dgm:cxn modelId="{2BA9B64E-1EE3-4A2B-A586-48490C60CD09}" type="presParOf" srcId="{C5D4280D-D8A4-429D-8CE8-019F6EC6188A}" destId="{D6D153EE-7E6E-4172-BF9B-A8C65CC84EC2}" srcOrd="0" destOrd="0" presId="urn:microsoft.com/office/officeart/2008/layout/LinedList"/>
    <dgm:cxn modelId="{2B715EDC-B668-4789-948D-F4067A923E19}" type="presParOf" srcId="{C5D4280D-D8A4-429D-8CE8-019F6EC6188A}" destId="{4C11C34A-C590-4E7D-81CB-BE8C7A8F6864}" srcOrd="1" destOrd="0" presId="urn:microsoft.com/office/officeart/2008/layout/LinedList"/>
    <dgm:cxn modelId="{D6B9E049-D0A3-4EF1-8E0D-2148CF653FFA}" type="presParOf" srcId="{2EF50557-DB01-4702-BD33-F1A1502A951C}" destId="{C1FC61DD-E8B6-4A96-A48F-DA419A5B6EF6}" srcOrd="6" destOrd="0" presId="urn:microsoft.com/office/officeart/2008/layout/LinedList"/>
    <dgm:cxn modelId="{7E2D834E-CFBD-4DD8-9F15-5D0D0FD8D98E}" type="presParOf" srcId="{2EF50557-DB01-4702-BD33-F1A1502A951C}" destId="{EA5CFB2D-8081-4F4D-B0C7-0077DE4A742D}" srcOrd="7" destOrd="0" presId="urn:microsoft.com/office/officeart/2008/layout/LinedList"/>
    <dgm:cxn modelId="{CC55862A-CE34-4FF2-A2FE-985282E63471}" type="presParOf" srcId="{EA5CFB2D-8081-4F4D-B0C7-0077DE4A742D}" destId="{D7DDBB67-291C-456D-8267-D05EA47E045A}" srcOrd="0" destOrd="0" presId="urn:microsoft.com/office/officeart/2008/layout/LinedList"/>
    <dgm:cxn modelId="{5552E6F0-67CA-452A-8316-F46176D3E98A}" type="presParOf" srcId="{EA5CFB2D-8081-4F4D-B0C7-0077DE4A742D}" destId="{F2412478-D4EF-4E7B-ABA3-1713631E152A}" srcOrd="1" destOrd="0" presId="urn:microsoft.com/office/officeart/2008/layout/LinedList"/>
    <dgm:cxn modelId="{49F97953-ADE4-40F9-BD75-C8ACF4EA74B9}" type="presParOf" srcId="{2EF50557-DB01-4702-BD33-F1A1502A951C}" destId="{BC3B72DE-3115-4435-AF3B-A24E846CDD36}" srcOrd="8" destOrd="0" presId="urn:microsoft.com/office/officeart/2008/layout/LinedList"/>
    <dgm:cxn modelId="{671D43AB-BD8B-43A9-B68B-8A72B240E4E7}" type="presParOf" srcId="{2EF50557-DB01-4702-BD33-F1A1502A951C}" destId="{B4E85D86-4B1A-4789-9541-66EEF657CD08}" srcOrd="9" destOrd="0" presId="urn:microsoft.com/office/officeart/2008/layout/LinedList"/>
    <dgm:cxn modelId="{29AD6EFC-469D-4D2C-A782-B9F687029F78}" type="presParOf" srcId="{B4E85D86-4B1A-4789-9541-66EEF657CD08}" destId="{3E6AFDC3-AE37-4C7F-BDA0-C70D886434DC}" srcOrd="0" destOrd="0" presId="urn:microsoft.com/office/officeart/2008/layout/LinedList"/>
    <dgm:cxn modelId="{15235170-78F8-4788-94AC-2AE7FD2221CA}" type="presParOf" srcId="{B4E85D86-4B1A-4789-9541-66EEF657CD08}" destId="{9CD9C8F6-FCBC-4ADF-AC09-6DDC54100E81}"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818FDE-CB03-466C-A07B-3076A1A15DA3}" type="doc">
      <dgm:prSet loTypeId="urn:microsoft.com/office/officeart/2008/layout/LinedList" loCatId="list" qsTypeId="urn:microsoft.com/office/officeart/2005/8/quickstyle/simple1" qsCatId="simple" csTypeId="urn:microsoft.com/office/officeart/2005/8/colors/accent4_2" csCatId="accent4"/>
      <dgm:spPr/>
      <dgm:t>
        <a:bodyPr/>
        <a:lstStyle/>
        <a:p>
          <a:endParaRPr lang="en-US"/>
        </a:p>
      </dgm:t>
    </dgm:pt>
    <dgm:pt modelId="{69524337-CDC1-4520-9D75-40A87CF216E2}">
      <dgm:prSet/>
      <dgm:spPr/>
      <dgm:t>
        <a:bodyPr/>
        <a:lstStyle/>
        <a:p>
          <a:r>
            <a:rPr lang="en-US"/>
            <a:t>• Optimization algorithms reduce loss by updating weights iteratively.</a:t>
          </a:r>
        </a:p>
      </dgm:t>
    </dgm:pt>
    <dgm:pt modelId="{76482B2C-8ED8-4F23-BBD0-D1EAB30675FE}" type="parTrans" cxnId="{F7C1688B-BAEE-4ED1-954E-AFE8F753DBA4}">
      <dgm:prSet/>
      <dgm:spPr/>
      <dgm:t>
        <a:bodyPr/>
        <a:lstStyle/>
        <a:p>
          <a:endParaRPr lang="en-US"/>
        </a:p>
      </dgm:t>
    </dgm:pt>
    <dgm:pt modelId="{BD7DD339-99A9-4FA4-9F4B-363B1E192458}" type="sibTrans" cxnId="{F7C1688B-BAEE-4ED1-954E-AFE8F753DBA4}">
      <dgm:prSet/>
      <dgm:spPr/>
      <dgm:t>
        <a:bodyPr/>
        <a:lstStyle/>
        <a:p>
          <a:endParaRPr lang="en-US"/>
        </a:p>
      </dgm:t>
    </dgm:pt>
    <dgm:pt modelId="{02FEEBE7-B7E1-44F4-88BB-36BA09854EE4}">
      <dgm:prSet/>
      <dgm:spPr/>
      <dgm:t>
        <a:bodyPr/>
        <a:lstStyle/>
        <a:p>
          <a:r>
            <a:rPr lang="en-US"/>
            <a:t>• Common optimizers include:</a:t>
          </a:r>
        </a:p>
      </dgm:t>
    </dgm:pt>
    <dgm:pt modelId="{D5F228B0-C7FA-4084-A123-B1DC9FEA1131}" type="parTrans" cxnId="{BA601B0C-CAC2-4CEC-AF8A-64E18AE61803}">
      <dgm:prSet/>
      <dgm:spPr/>
      <dgm:t>
        <a:bodyPr/>
        <a:lstStyle/>
        <a:p>
          <a:endParaRPr lang="en-US"/>
        </a:p>
      </dgm:t>
    </dgm:pt>
    <dgm:pt modelId="{8A68597E-7439-456A-AE2E-DD2110716887}" type="sibTrans" cxnId="{BA601B0C-CAC2-4CEC-AF8A-64E18AE61803}">
      <dgm:prSet/>
      <dgm:spPr/>
      <dgm:t>
        <a:bodyPr/>
        <a:lstStyle/>
        <a:p>
          <a:endParaRPr lang="en-US"/>
        </a:p>
      </dgm:t>
    </dgm:pt>
    <dgm:pt modelId="{5C9CEA74-A1D1-4836-9EFB-F047B13170E5}">
      <dgm:prSet/>
      <dgm:spPr/>
      <dgm:t>
        <a:bodyPr/>
        <a:lstStyle/>
        <a:p>
          <a:r>
            <a:rPr lang="en-US"/>
            <a:t>- Gradient Descent</a:t>
          </a:r>
        </a:p>
      </dgm:t>
    </dgm:pt>
    <dgm:pt modelId="{1F4127E4-A6D7-4A1D-B7A9-94390942C877}" type="parTrans" cxnId="{35B4AC5B-A514-4C2B-B8B1-63A8DE510A55}">
      <dgm:prSet/>
      <dgm:spPr/>
      <dgm:t>
        <a:bodyPr/>
        <a:lstStyle/>
        <a:p>
          <a:endParaRPr lang="en-US"/>
        </a:p>
      </dgm:t>
    </dgm:pt>
    <dgm:pt modelId="{39CE66E0-118A-45C6-A499-E85B52B28852}" type="sibTrans" cxnId="{35B4AC5B-A514-4C2B-B8B1-63A8DE510A55}">
      <dgm:prSet/>
      <dgm:spPr/>
      <dgm:t>
        <a:bodyPr/>
        <a:lstStyle/>
        <a:p>
          <a:endParaRPr lang="en-US"/>
        </a:p>
      </dgm:t>
    </dgm:pt>
    <dgm:pt modelId="{A631228A-64CB-40B7-97AB-76F8DB86186C}">
      <dgm:prSet/>
      <dgm:spPr/>
      <dgm:t>
        <a:bodyPr/>
        <a:lstStyle/>
        <a:p>
          <a:r>
            <a:rPr lang="en-US"/>
            <a:t>- Stochastic Gradient Descent (SGD)</a:t>
          </a:r>
        </a:p>
      </dgm:t>
    </dgm:pt>
    <dgm:pt modelId="{B41B795B-1F7D-4C75-841A-AD4AF173B971}" type="parTrans" cxnId="{303B2A86-3153-4DAC-A8B5-39D6567F05B7}">
      <dgm:prSet/>
      <dgm:spPr/>
      <dgm:t>
        <a:bodyPr/>
        <a:lstStyle/>
        <a:p>
          <a:endParaRPr lang="en-US"/>
        </a:p>
      </dgm:t>
    </dgm:pt>
    <dgm:pt modelId="{F10E2B39-7CDE-4AC1-8CEB-805759E29172}" type="sibTrans" cxnId="{303B2A86-3153-4DAC-A8B5-39D6567F05B7}">
      <dgm:prSet/>
      <dgm:spPr/>
      <dgm:t>
        <a:bodyPr/>
        <a:lstStyle/>
        <a:p>
          <a:endParaRPr lang="en-US"/>
        </a:p>
      </dgm:t>
    </dgm:pt>
    <dgm:pt modelId="{5641EE02-35B5-4C02-AC27-D8407AC06015}">
      <dgm:prSet/>
      <dgm:spPr/>
      <dgm:t>
        <a:bodyPr/>
        <a:lstStyle/>
        <a:p>
          <a:r>
            <a:rPr lang="en-US"/>
            <a:t>- Adam (Adaptive Moment Estimation)</a:t>
          </a:r>
        </a:p>
      </dgm:t>
    </dgm:pt>
    <dgm:pt modelId="{858300E7-5993-471E-A79D-3DA1523ACAF9}" type="parTrans" cxnId="{A6DB6E84-3B08-45D6-BF48-82EA50573E7F}">
      <dgm:prSet/>
      <dgm:spPr/>
      <dgm:t>
        <a:bodyPr/>
        <a:lstStyle/>
        <a:p>
          <a:endParaRPr lang="en-US"/>
        </a:p>
      </dgm:t>
    </dgm:pt>
    <dgm:pt modelId="{2A334430-484E-4215-8F8B-329AEDCE50AB}" type="sibTrans" cxnId="{A6DB6E84-3B08-45D6-BF48-82EA50573E7F}">
      <dgm:prSet/>
      <dgm:spPr/>
      <dgm:t>
        <a:bodyPr/>
        <a:lstStyle/>
        <a:p>
          <a:endParaRPr lang="en-US"/>
        </a:p>
      </dgm:t>
    </dgm:pt>
    <dgm:pt modelId="{F44B23AC-CEA6-4ED3-B702-E2AE3B64E157}">
      <dgm:prSet/>
      <dgm:spPr/>
      <dgm:t>
        <a:bodyPr/>
        <a:lstStyle/>
        <a:p>
          <a:r>
            <a:rPr lang="en-US"/>
            <a:t>• They improve model accuracy and speed up learning.</a:t>
          </a:r>
        </a:p>
      </dgm:t>
    </dgm:pt>
    <dgm:pt modelId="{1AC11262-4519-4E92-B6F4-AFF2F9CEFB59}" type="parTrans" cxnId="{A6E1C0D5-3710-49D5-95E7-A719BF807C1F}">
      <dgm:prSet/>
      <dgm:spPr/>
      <dgm:t>
        <a:bodyPr/>
        <a:lstStyle/>
        <a:p>
          <a:endParaRPr lang="en-US"/>
        </a:p>
      </dgm:t>
    </dgm:pt>
    <dgm:pt modelId="{74C2D069-F5A2-4E41-90DD-4EB63EBD73F5}" type="sibTrans" cxnId="{A6E1C0D5-3710-49D5-95E7-A719BF807C1F}">
      <dgm:prSet/>
      <dgm:spPr/>
      <dgm:t>
        <a:bodyPr/>
        <a:lstStyle/>
        <a:p>
          <a:endParaRPr lang="en-US"/>
        </a:p>
      </dgm:t>
    </dgm:pt>
    <dgm:pt modelId="{E06E18DE-7AC0-457D-A97A-9CD3A7969544}" type="pres">
      <dgm:prSet presAssocID="{A6818FDE-CB03-466C-A07B-3076A1A15DA3}" presName="vert0" presStyleCnt="0">
        <dgm:presLayoutVars>
          <dgm:dir/>
          <dgm:animOne val="branch"/>
          <dgm:animLvl val="lvl"/>
        </dgm:presLayoutVars>
      </dgm:prSet>
      <dgm:spPr/>
    </dgm:pt>
    <dgm:pt modelId="{CB68771F-E580-481A-A0A4-BFC7E00CAC25}" type="pres">
      <dgm:prSet presAssocID="{69524337-CDC1-4520-9D75-40A87CF216E2}" presName="thickLine" presStyleLbl="alignNode1" presStyleIdx="0" presStyleCnt="6"/>
      <dgm:spPr/>
    </dgm:pt>
    <dgm:pt modelId="{660A0DDF-0565-402F-AC9C-AA9C64FE60B3}" type="pres">
      <dgm:prSet presAssocID="{69524337-CDC1-4520-9D75-40A87CF216E2}" presName="horz1" presStyleCnt="0"/>
      <dgm:spPr/>
    </dgm:pt>
    <dgm:pt modelId="{54740C64-E788-4284-BD9A-0416403A034F}" type="pres">
      <dgm:prSet presAssocID="{69524337-CDC1-4520-9D75-40A87CF216E2}" presName="tx1" presStyleLbl="revTx" presStyleIdx="0" presStyleCnt="6"/>
      <dgm:spPr/>
    </dgm:pt>
    <dgm:pt modelId="{7063956C-B7A1-43CD-8282-8B368AB95C09}" type="pres">
      <dgm:prSet presAssocID="{69524337-CDC1-4520-9D75-40A87CF216E2}" presName="vert1" presStyleCnt="0"/>
      <dgm:spPr/>
    </dgm:pt>
    <dgm:pt modelId="{B53D6037-4F58-408C-810B-72850E01835F}" type="pres">
      <dgm:prSet presAssocID="{02FEEBE7-B7E1-44F4-88BB-36BA09854EE4}" presName="thickLine" presStyleLbl="alignNode1" presStyleIdx="1" presStyleCnt="6"/>
      <dgm:spPr/>
    </dgm:pt>
    <dgm:pt modelId="{5E092843-4198-49DF-BF07-7958FD4D8113}" type="pres">
      <dgm:prSet presAssocID="{02FEEBE7-B7E1-44F4-88BB-36BA09854EE4}" presName="horz1" presStyleCnt="0"/>
      <dgm:spPr/>
    </dgm:pt>
    <dgm:pt modelId="{01CEF785-5486-4E14-84EC-DDCA39D43002}" type="pres">
      <dgm:prSet presAssocID="{02FEEBE7-B7E1-44F4-88BB-36BA09854EE4}" presName="tx1" presStyleLbl="revTx" presStyleIdx="1" presStyleCnt="6"/>
      <dgm:spPr/>
    </dgm:pt>
    <dgm:pt modelId="{A59C1AFF-BD1D-41E0-98AA-55853E5926FA}" type="pres">
      <dgm:prSet presAssocID="{02FEEBE7-B7E1-44F4-88BB-36BA09854EE4}" presName="vert1" presStyleCnt="0"/>
      <dgm:spPr/>
    </dgm:pt>
    <dgm:pt modelId="{C5C7236B-AAAB-4049-981F-4F656F83488A}" type="pres">
      <dgm:prSet presAssocID="{5C9CEA74-A1D1-4836-9EFB-F047B13170E5}" presName="thickLine" presStyleLbl="alignNode1" presStyleIdx="2" presStyleCnt="6"/>
      <dgm:spPr/>
    </dgm:pt>
    <dgm:pt modelId="{698BFEDE-B61C-491A-8B65-6700C2BDA276}" type="pres">
      <dgm:prSet presAssocID="{5C9CEA74-A1D1-4836-9EFB-F047B13170E5}" presName="horz1" presStyleCnt="0"/>
      <dgm:spPr/>
    </dgm:pt>
    <dgm:pt modelId="{96A04FA3-0742-4160-94BA-C6F1888AABA4}" type="pres">
      <dgm:prSet presAssocID="{5C9CEA74-A1D1-4836-9EFB-F047B13170E5}" presName="tx1" presStyleLbl="revTx" presStyleIdx="2" presStyleCnt="6"/>
      <dgm:spPr/>
    </dgm:pt>
    <dgm:pt modelId="{DCA62DD2-5E89-4DF7-8459-8F28FDE7D09E}" type="pres">
      <dgm:prSet presAssocID="{5C9CEA74-A1D1-4836-9EFB-F047B13170E5}" presName="vert1" presStyleCnt="0"/>
      <dgm:spPr/>
    </dgm:pt>
    <dgm:pt modelId="{7BC06BA8-C3B3-401D-BE0C-0457B074CFCD}" type="pres">
      <dgm:prSet presAssocID="{A631228A-64CB-40B7-97AB-76F8DB86186C}" presName="thickLine" presStyleLbl="alignNode1" presStyleIdx="3" presStyleCnt="6"/>
      <dgm:spPr/>
    </dgm:pt>
    <dgm:pt modelId="{C73E02E7-837F-4818-BBAE-EB7A60083A94}" type="pres">
      <dgm:prSet presAssocID="{A631228A-64CB-40B7-97AB-76F8DB86186C}" presName="horz1" presStyleCnt="0"/>
      <dgm:spPr/>
    </dgm:pt>
    <dgm:pt modelId="{8E0F8CA5-B7A5-4E67-9CFD-46F0E16E9B73}" type="pres">
      <dgm:prSet presAssocID="{A631228A-64CB-40B7-97AB-76F8DB86186C}" presName="tx1" presStyleLbl="revTx" presStyleIdx="3" presStyleCnt="6"/>
      <dgm:spPr/>
    </dgm:pt>
    <dgm:pt modelId="{7F38A4BA-6F7C-41C4-B8C3-236B465DDA71}" type="pres">
      <dgm:prSet presAssocID="{A631228A-64CB-40B7-97AB-76F8DB86186C}" presName="vert1" presStyleCnt="0"/>
      <dgm:spPr/>
    </dgm:pt>
    <dgm:pt modelId="{372419D6-4923-449D-B582-7F56E5612E32}" type="pres">
      <dgm:prSet presAssocID="{5641EE02-35B5-4C02-AC27-D8407AC06015}" presName="thickLine" presStyleLbl="alignNode1" presStyleIdx="4" presStyleCnt="6"/>
      <dgm:spPr/>
    </dgm:pt>
    <dgm:pt modelId="{46DF2D26-7D4C-44A3-B169-EA6F4D6E4C34}" type="pres">
      <dgm:prSet presAssocID="{5641EE02-35B5-4C02-AC27-D8407AC06015}" presName="horz1" presStyleCnt="0"/>
      <dgm:spPr/>
    </dgm:pt>
    <dgm:pt modelId="{41498763-4710-42BD-A6C3-1DFC06090144}" type="pres">
      <dgm:prSet presAssocID="{5641EE02-35B5-4C02-AC27-D8407AC06015}" presName="tx1" presStyleLbl="revTx" presStyleIdx="4" presStyleCnt="6"/>
      <dgm:spPr/>
    </dgm:pt>
    <dgm:pt modelId="{138DB633-C17B-4773-8401-7F81CBC1937B}" type="pres">
      <dgm:prSet presAssocID="{5641EE02-35B5-4C02-AC27-D8407AC06015}" presName="vert1" presStyleCnt="0"/>
      <dgm:spPr/>
    </dgm:pt>
    <dgm:pt modelId="{A98496E8-E864-4395-9542-FB78FDC82279}" type="pres">
      <dgm:prSet presAssocID="{F44B23AC-CEA6-4ED3-B702-E2AE3B64E157}" presName="thickLine" presStyleLbl="alignNode1" presStyleIdx="5" presStyleCnt="6"/>
      <dgm:spPr/>
    </dgm:pt>
    <dgm:pt modelId="{86175CA1-9CAC-42F0-8C50-F4F840A336FB}" type="pres">
      <dgm:prSet presAssocID="{F44B23AC-CEA6-4ED3-B702-E2AE3B64E157}" presName="horz1" presStyleCnt="0"/>
      <dgm:spPr/>
    </dgm:pt>
    <dgm:pt modelId="{646DFBCD-CEAD-4423-A053-18BA98523E16}" type="pres">
      <dgm:prSet presAssocID="{F44B23AC-CEA6-4ED3-B702-E2AE3B64E157}" presName="tx1" presStyleLbl="revTx" presStyleIdx="5" presStyleCnt="6"/>
      <dgm:spPr/>
    </dgm:pt>
    <dgm:pt modelId="{F61F2F09-39BB-469D-85AE-481B87DB6520}" type="pres">
      <dgm:prSet presAssocID="{F44B23AC-CEA6-4ED3-B702-E2AE3B64E157}" presName="vert1" presStyleCnt="0"/>
      <dgm:spPr/>
    </dgm:pt>
  </dgm:ptLst>
  <dgm:cxnLst>
    <dgm:cxn modelId="{BA601B0C-CAC2-4CEC-AF8A-64E18AE61803}" srcId="{A6818FDE-CB03-466C-A07B-3076A1A15DA3}" destId="{02FEEBE7-B7E1-44F4-88BB-36BA09854EE4}" srcOrd="1" destOrd="0" parTransId="{D5F228B0-C7FA-4084-A123-B1DC9FEA1131}" sibTransId="{8A68597E-7439-456A-AE2E-DD2110716887}"/>
    <dgm:cxn modelId="{BAAE8037-B9FE-46FA-A979-117CB5CB2130}" type="presOf" srcId="{A6818FDE-CB03-466C-A07B-3076A1A15DA3}" destId="{E06E18DE-7AC0-457D-A97A-9CD3A7969544}" srcOrd="0" destOrd="0" presId="urn:microsoft.com/office/officeart/2008/layout/LinedList"/>
    <dgm:cxn modelId="{35B4AC5B-A514-4C2B-B8B1-63A8DE510A55}" srcId="{A6818FDE-CB03-466C-A07B-3076A1A15DA3}" destId="{5C9CEA74-A1D1-4836-9EFB-F047B13170E5}" srcOrd="2" destOrd="0" parTransId="{1F4127E4-A6D7-4A1D-B7A9-94390942C877}" sibTransId="{39CE66E0-118A-45C6-A499-E85B52B28852}"/>
    <dgm:cxn modelId="{D704BA51-3D22-4932-B23C-322BAFB38B9D}" type="presOf" srcId="{5C9CEA74-A1D1-4836-9EFB-F047B13170E5}" destId="{96A04FA3-0742-4160-94BA-C6F1888AABA4}" srcOrd="0" destOrd="0" presId="urn:microsoft.com/office/officeart/2008/layout/LinedList"/>
    <dgm:cxn modelId="{A6DB6E84-3B08-45D6-BF48-82EA50573E7F}" srcId="{A6818FDE-CB03-466C-A07B-3076A1A15DA3}" destId="{5641EE02-35B5-4C02-AC27-D8407AC06015}" srcOrd="4" destOrd="0" parTransId="{858300E7-5993-471E-A79D-3DA1523ACAF9}" sibTransId="{2A334430-484E-4215-8F8B-329AEDCE50AB}"/>
    <dgm:cxn modelId="{303B2A86-3153-4DAC-A8B5-39D6567F05B7}" srcId="{A6818FDE-CB03-466C-A07B-3076A1A15DA3}" destId="{A631228A-64CB-40B7-97AB-76F8DB86186C}" srcOrd="3" destOrd="0" parTransId="{B41B795B-1F7D-4C75-841A-AD4AF173B971}" sibTransId="{F10E2B39-7CDE-4AC1-8CEB-805759E29172}"/>
    <dgm:cxn modelId="{F7C1688B-BAEE-4ED1-954E-AFE8F753DBA4}" srcId="{A6818FDE-CB03-466C-A07B-3076A1A15DA3}" destId="{69524337-CDC1-4520-9D75-40A87CF216E2}" srcOrd="0" destOrd="0" parTransId="{76482B2C-8ED8-4F23-BBD0-D1EAB30675FE}" sibTransId="{BD7DD339-99A9-4FA4-9F4B-363B1E192458}"/>
    <dgm:cxn modelId="{9E5D1097-BE0F-47F5-A17D-6C5E652CBBBA}" type="presOf" srcId="{69524337-CDC1-4520-9D75-40A87CF216E2}" destId="{54740C64-E788-4284-BD9A-0416403A034F}" srcOrd="0" destOrd="0" presId="urn:microsoft.com/office/officeart/2008/layout/LinedList"/>
    <dgm:cxn modelId="{03DABE98-A1C5-4F45-BC38-866D3B97AD0C}" type="presOf" srcId="{A631228A-64CB-40B7-97AB-76F8DB86186C}" destId="{8E0F8CA5-B7A5-4E67-9CFD-46F0E16E9B73}" srcOrd="0" destOrd="0" presId="urn:microsoft.com/office/officeart/2008/layout/LinedList"/>
    <dgm:cxn modelId="{82C10CB4-2C52-4613-B7B4-45549086D64E}" type="presOf" srcId="{F44B23AC-CEA6-4ED3-B702-E2AE3B64E157}" destId="{646DFBCD-CEAD-4423-A053-18BA98523E16}" srcOrd="0" destOrd="0" presId="urn:microsoft.com/office/officeart/2008/layout/LinedList"/>
    <dgm:cxn modelId="{4272B4BA-4664-4CF9-893D-638958FB000F}" type="presOf" srcId="{02FEEBE7-B7E1-44F4-88BB-36BA09854EE4}" destId="{01CEF785-5486-4E14-84EC-DDCA39D43002}" srcOrd="0" destOrd="0" presId="urn:microsoft.com/office/officeart/2008/layout/LinedList"/>
    <dgm:cxn modelId="{A6E1C0D5-3710-49D5-95E7-A719BF807C1F}" srcId="{A6818FDE-CB03-466C-A07B-3076A1A15DA3}" destId="{F44B23AC-CEA6-4ED3-B702-E2AE3B64E157}" srcOrd="5" destOrd="0" parTransId="{1AC11262-4519-4E92-B6F4-AFF2F9CEFB59}" sibTransId="{74C2D069-F5A2-4E41-90DD-4EB63EBD73F5}"/>
    <dgm:cxn modelId="{E2E558D6-BEDB-4AD2-AA4E-22547BACC303}" type="presOf" srcId="{5641EE02-35B5-4C02-AC27-D8407AC06015}" destId="{41498763-4710-42BD-A6C3-1DFC06090144}" srcOrd="0" destOrd="0" presId="urn:microsoft.com/office/officeart/2008/layout/LinedList"/>
    <dgm:cxn modelId="{26035695-3845-4930-B124-5CD605686174}" type="presParOf" srcId="{E06E18DE-7AC0-457D-A97A-9CD3A7969544}" destId="{CB68771F-E580-481A-A0A4-BFC7E00CAC25}" srcOrd="0" destOrd="0" presId="urn:microsoft.com/office/officeart/2008/layout/LinedList"/>
    <dgm:cxn modelId="{360FBEC9-4839-4904-9AF7-74C5290C0492}" type="presParOf" srcId="{E06E18DE-7AC0-457D-A97A-9CD3A7969544}" destId="{660A0DDF-0565-402F-AC9C-AA9C64FE60B3}" srcOrd="1" destOrd="0" presId="urn:microsoft.com/office/officeart/2008/layout/LinedList"/>
    <dgm:cxn modelId="{CFE50CD1-E352-43D4-B6B5-7DAE667F1BA6}" type="presParOf" srcId="{660A0DDF-0565-402F-AC9C-AA9C64FE60B3}" destId="{54740C64-E788-4284-BD9A-0416403A034F}" srcOrd="0" destOrd="0" presId="urn:microsoft.com/office/officeart/2008/layout/LinedList"/>
    <dgm:cxn modelId="{7FE60E27-720A-469E-8064-AEBF67C32B86}" type="presParOf" srcId="{660A0DDF-0565-402F-AC9C-AA9C64FE60B3}" destId="{7063956C-B7A1-43CD-8282-8B368AB95C09}" srcOrd="1" destOrd="0" presId="urn:microsoft.com/office/officeart/2008/layout/LinedList"/>
    <dgm:cxn modelId="{082599D0-FEAB-407E-89F6-3ADF325CCD62}" type="presParOf" srcId="{E06E18DE-7AC0-457D-A97A-9CD3A7969544}" destId="{B53D6037-4F58-408C-810B-72850E01835F}" srcOrd="2" destOrd="0" presId="urn:microsoft.com/office/officeart/2008/layout/LinedList"/>
    <dgm:cxn modelId="{2E542205-944D-48FA-B551-D17BA9AD7734}" type="presParOf" srcId="{E06E18DE-7AC0-457D-A97A-9CD3A7969544}" destId="{5E092843-4198-49DF-BF07-7958FD4D8113}" srcOrd="3" destOrd="0" presId="urn:microsoft.com/office/officeart/2008/layout/LinedList"/>
    <dgm:cxn modelId="{050C077F-8E1B-4FAD-A595-0D8E8D6767DF}" type="presParOf" srcId="{5E092843-4198-49DF-BF07-7958FD4D8113}" destId="{01CEF785-5486-4E14-84EC-DDCA39D43002}" srcOrd="0" destOrd="0" presId="urn:microsoft.com/office/officeart/2008/layout/LinedList"/>
    <dgm:cxn modelId="{7FB362DB-1445-4615-873B-9405507C4433}" type="presParOf" srcId="{5E092843-4198-49DF-BF07-7958FD4D8113}" destId="{A59C1AFF-BD1D-41E0-98AA-55853E5926FA}" srcOrd="1" destOrd="0" presId="urn:microsoft.com/office/officeart/2008/layout/LinedList"/>
    <dgm:cxn modelId="{2353EE72-B4FF-4753-9638-F69E6193A88B}" type="presParOf" srcId="{E06E18DE-7AC0-457D-A97A-9CD3A7969544}" destId="{C5C7236B-AAAB-4049-981F-4F656F83488A}" srcOrd="4" destOrd="0" presId="urn:microsoft.com/office/officeart/2008/layout/LinedList"/>
    <dgm:cxn modelId="{DD47EF4A-0B32-4EE9-BE13-5D5F408E0B03}" type="presParOf" srcId="{E06E18DE-7AC0-457D-A97A-9CD3A7969544}" destId="{698BFEDE-B61C-491A-8B65-6700C2BDA276}" srcOrd="5" destOrd="0" presId="urn:microsoft.com/office/officeart/2008/layout/LinedList"/>
    <dgm:cxn modelId="{045FE175-D110-4204-B1D8-E25E80F13743}" type="presParOf" srcId="{698BFEDE-B61C-491A-8B65-6700C2BDA276}" destId="{96A04FA3-0742-4160-94BA-C6F1888AABA4}" srcOrd="0" destOrd="0" presId="urn:microsoft.com/office/officeart/2008/layout/LinedList"/>
    <dgm:cxn modelId="{79A19415-A451-4461-AAB2-3304CB7AA102}" type="presParOf" srcId="{698BFEDE-B61C-491A-8B65-6700C2BDA276}" destId="{DCA62DD2-5E89-4DF7-8459-8F28FDE7D09E}" srcOrd="1" destOrd="0" presId="urn:microsoft.com/office/officeart/2008/layout/LinedList"/>
    <dgm:cxn modelId="{EA33FCAD-2743-45E8-9E06-944496DB3FBD}" type="presParOf" srcId="{E06E18DE-7AC0-457D-A97A-9CD3A7969544}" destId="{7BC06BA8-C3B3-401D-BE0C-0457B074CFCD}" srcOrd="6" destOrd="0" presId="urn:microsoft.com/office/officeart/2008/layout/LinedList"/>
    <dgm:cxn modelId="{42567C9D-C369-4386-9D16-30F881F6F936}" type="presParOf" srcId="{E06E18DE-7AC0-457D-A97A-9CD3A7969544}" destId="{C73E02E7-837F-4818-BBAE-EB7A60083A94}" srcOrd="7" destOrd="0" presId="urn:microsoft.com/office/officeart/2008/layout/LinedList"/>
    <dgm:cxn modelId="{DD6AA568-ABEA-4F2C-B171-AA33511D2E38}" type="presParOf" srcId="{C73E02E7-837F-4818-BBAE-EB7A60083A94}" destId="{8E0F8CA5-B7A5-4E67-9CFD-46F0E16E9B73}" srcOrd="0" destOrd="0" presId="urn:microsoft.com/office/officeart/2008/layout/LinedList"/>
    <dgm:cxn modelId="{B3941237-7944-46E0-8C2E-8D4F6984F4EB}" type="presParOf" srcId="{C73E02E7-837F-4818-BBAE-EB7A60083A94}" destId="{7F38A4BA-6F7C-41C4-B8C3-236B465DDA71}" srcOrd="1" destOrd="0" presId="urn:microsoft.com/office/officeart/2008/layout/LinedList"/>
    <dgm:cxn modelId="{98492744-ABEA-4F58-8716-39710E34A5EF}" type="presParOf" srcId="{E06E18DE-7AC0-457D-A97A-9CD3A7969544}" destId="{372419D6-4923-449D-B582-7F56E5612E32}" srcOrd="8" destOrd="0" presId="urn:microsoft.com/office/officeart/2008/layout/LinedList"/>
    <dgm:cxn modelId="{50883D94-A0C5-4601-807B-1601C69BE598}" type="presParOf" srcId="{E06E18DE-7AC0-457D-A97A-9CD3A7969544}" destId="{46DF2D26-7D4C-44A3-B169-EA6F4D6E4C34}" srcOrd="9" destOrd="0" presId="urn:microsoft.com/office/officeart/2008/layout/LinedList"/>
    <dgm:cxn modelId="{1A25EB2E-DE83-4A34-9898-3D92378B1631}" type="presParOf" srcId="{46DF2D26-7D4C-44A3-B169-EA6F4D6E4C34}" destId="{41498763-4710-42BD-A6C3-1DFC06090144}" srcOrd="0" destOrd="0" presId="urn:microsoft.com/office/officeart/2008/layout/LinedList"/>
    <dgm:cxn modelId="{39063345-BDA7-475D-916C-51D42A41A153}" type="presParOf" srcId="{46DF2D26-7D4C-44A3-B169-EA6F4D6E4C34}" destId="{138DB633-C17B-4773-8401-7F81CBC1937B}" srcOrd="1" destOrd="0" presId="urn:microsoft.com/office/officeart/2008/layout/LinedList"/>
    <dgm:cxn modelId="{93F039EF-0E63-4780-94F5-CC06513C0130}" type="presParOf" srcId="{E06E18DE-7AC0-457D-A97A-9CD3A7969544}" destId="{A98496E8-E864-4395-9542-FB78FDC82279}" srcOrd="10" destOrd="0" presId="urn:microsoft.com/office/officeart/2008/layout/LinedList"/>
    <dgm:cxn modelId="{9DAA7581-8AF4-4C55-893E-EFB7EE79E95C}" type="presParOf" srcId="{E06E18DE-7AC0-457D-A97A-9CD3A7969544}" destId="{86175CA1-9CAC-42F0-8C50-F4F840A336FB}" srcOrd="11" destOrd="0" presId="urn:microsoft.com/office/officeart/2008/layout/LinedList"/>
    <dgm:cxn modelId="{7D6C6491-3258-4AAC-9DD2-08DF560CF009}" type="presParOf" srcId="{86175CA1-9CAC-42F0-8C50-F4F840A336FB}" destId="{646DFBCD-CEAD-4423-A053-18BA98523E16}" srcOrd="0" destOrd="0" presId="urn:microsoft.com/office/officeart/2008/layout/LinedList"/>
    <dgm:cxn modelId="{30EA6665-0298-4AD2-B64C-57837708629E}" type="presParOf" srcId="{86175CA1-9CAC-42F0-8C50-F4F840A336FB}" destId="{F61F2F09-39BB-469D-85AE-481B87DB652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F0CD9A4-07B7-4078-9E45-369766E34489}" type="doc">
      <dgm:prSet loTypeId="urn:microsoft.com/office/officeart/2008/layout/LinedList" loCatId="list" qsTypeId="urn:microsoft.com/office/officeart/2005/8/quickstyle/simple1" qsCatId="simple" csTypeId="urn:microsoft.com/office/officeart/2005/8/colors/accent4_2" csCatId="accent4"/>
      <dgm:spPr/>
      <dgm:t>
        <a:bodyPr/>
        <a:lstStyle/>
        <a:p>
          <a:endParaRPr lang="en-US"/>
        </a:p>
      </dgm:t>
    </dgm:pt>
    <dgm:pt modelId="{723B967C-0690-4CBD-9CFC-6346688CCF78}">
      <dgm:prSet/>
      <dgm:spPr/>
      <dgm:t>
        <a:bodyPr/>
        <a:lstStyle/>
        <a:p>
          <a:r>
            <a:rPr lang="en-US"/>
            <a:t>• Neural networks learn by adjusting weights based on feedback.</a:t>
          </a:r>
        </a:p>
      </dgm:t>
    </dgm:pt>
    <dgm:pt modelId="{92315D82-CBB1-4E01-88C0-C3C8671C962F}" type="parTrans" cxnId="{CB0EDB50-FE4E-4649-A079-D5C4E6A91CD7}">
      <dgm:prSet/>
      <dgm:spPr/>
      <dgm:t>
        <a:bodyPr/>
        <a:lstStyle/>
        <a:p>
          <a:endParaRPr lang="en-US"/>
        </a:p>
      </dgm:t>
    </dgm:pt>
    <dgm:pt modelId="{1165C221-E1F8-4C4F-A874-919860EA6A4E}" type="sibTrans" cxnId="{CB0EDB50-FE4E-4649-A079-D5C4E6A91CD7}">
      <dgm:prSet/>
      <dgm:spPr/>
      <dgm:t>
        <a:bodyPr/>
        <a:lstStyle/>
        <a:p>
          <a:endParaRPr lang="en-US"/>
        </a:p>
      </dgm:t>
    </dgm:pt>
    <dgm:pt modelId="{154C86CB-0A63-45CA-B5B9-634254F283E5}">
      <dgm:prSet/>
      <dgm:spPr/>
      <dgm:t>
        <a:bodyPr/>
        <a:lstStyle/>
        <a:p>
          <a:r>
            <a:rPr lang="en-US"/>
            <a:t>• Activation functions and optimizers control how effectively learning occurs.</a:t>
          </a:r>
        </a:p>
      </dgm:t>
    </dgm:pt>
    <dgm:pt modelId="{FC5CC694-45FB-4DA6-A060-4A4E4386E85A}" type="parTrans" cxnId="{B877341C-FCAA-49C8-98AC-2E1745B46716}">
      <dgm:prSet/>
      <dgm:spPr/>
      <dgm:t>
        <a:bodyPr/>
        <a:lstStyle/>
        <a:p>
          <a:endParaRPr lang="en-US"/>
        </a:p>
      </dgm:t>
    </dgm:pt>
    <dgm:pt modelId="{538F4614-5AF4-46F5-83F1-8C2A2A949CF8}" type="sibTrans" cxnId="{B877341C-FCAA-49C8-98AC-2E1745B46716}">
      <dgm:prSet/>
      <dgm:spPr/>
      <dgm:t>
        <a:bodyPr/>
        <a:lstStyle/>
        <a:p>
          <a:endParaRPr lang="en-US"/>
        </a:p>
      </dgm:t>
    </dgm:pt>
    <dgm:pt modelId="{9A065AB2-6C78-47A4-94DE-4486759CE741}">
      <dgm:prSet/>
      <dgm:spPr/>
      <dgm:t>
        <a:bodyPr/>
        <a:lstStyle/>
        <a:p>
          <a:r>
            <a:rPr lang="en-US"/>
            <a:t>• Visualization tools like TensorFlow Playground simplify understanding of complex concepts.</a:t>
          </a:r>
        </a:p>
      </dgm:t>
    </dgm:pt>
    <dgm:pt modelId="{6D067BA9-03E2-4FA1-93F5-A8B35CE70CC8}" type="parTrans" cxnId="{F27780A4-2540-4562-901C-1E0D0F7D55E7}">
      <dgm:prSet/>
      <dgm:spPr/>
      <dgm:t>
        <a:bodyPr/>
        <a:lstStyle/>
        <a:p>
          <a:endParaRPr lang="en-US"/>
        </a:p>
      </dgm:t>
    </dgm:pt>
    <dgm:pt modelId="{B75967D6-CBEB-4168-865E-CB98A5DED07C}" type="sibTrans" cxnId="{F27780A4-2540-4562-901C-1E0D0F7D55E7}">
      <dgm:prSet/>
      <dgm:spPr/>
      <dgm:t>
        <a:bodyPr/>
        <a:lstStyle/>
        <a:p>
          <a:endParaRPr lang="en-US"/>
        </a:p>
      </dgm:t>
    </dgm:pt>
    <dgm:pt modelId="{CE4E04AD-2C3F-44FD-850A-A7D2847C30EB}" type="pres">
      <dgm:prSet presAssocID="{EF0CD9A4-07B7-4078-9E45-369766E34489}" presName="vert0" presStyleCnt="0">
        <dgm:presLayoutVars>
          <dgm:dir/>
          <dgm:animOne val="branch"/>
          <dgm:animLvl val="lvl"/>
        </dgm:presLayoutVars>
      </dgm:prSet>
      <dgm:spPr/>
    </dgm:pt>
    <dgm:pt modelId="{3A55FA1D-694E-4101-A925-C8F3EDC32407}" type="pres">
      <dgm:prSet presAssocID="{723B967C-0690-4CBD-9CFC-6346688CCF78}" presName="thickLine" presStyleLbl="alignNode1" presStyleIdx="0" presStyleCnt="3"/>
      <dgm:spPr/>
    </dgm:pt>
    <dgm:pt modelId="{8E52E0D3-0712-42F1-9F46-28BF0FB56D5E}" type="pres">
      <dgm:prSet presAssocID="{723B967C-0690-4CBD-9CFC-6346688CCF78}" presName="horz1" presStyleCnt="0"/>
      <dgm:spPr/>
    </dgm:pt>
    <dgm:pt modelId="{8FA23D74-C0DA-450B-99DA-0CC999BF4236}" type="pres">
      <dgm:prSet presAssocID="{723B967C-0690-4CBD-9CFC-6346688CCF78}" presName="tx1" presStyleLbl="revTx" presStyleIdx="0" presStyleCnt="3"/>
      <dgm:spPr/>
    </dgm:pt>
    <dgm:pt modelId="{DD3832C1-B509-4EB1-85E7-A6BF6393AE5C}" type="pres">
      <dgm:prSet presAssocID="{723B967C-0690-4CBD-9CFC-6346688CCF78}" presName="vert1" presStyleCnt="0"/>
      <dgm:spPr/>
    </dgm:pt>
    <dgm:pt modelId="{B22AF550-8195-41A7-A854-56D4B582BE66}" type="pres">
      <dgm:prSet presAssocID="{154C86CB-0A63-45CA-B5B9-634254F283E5}" presName="thickLine" presStyleLbl="alignNode1" presStyleIdx="1" presStyleCnt="3"/>
      <dgm:spPr/>
    </dgm:pt>
    <dgm:pt modelId="{98B93004-8CD7-4DC6-9AD7-E16F1A6B67C2}" type="pres">
      <dgm:prSet presAssocID="{154C86CB-0A63-45CA-B5B9-634254F283E5}" presName="horz1" presStyleCnt="0"/>
      <dgm:spPr/>
    </dgm:pt>
    <dgm:pt modelId="{B6AD92B6-05B3-4C3E-8533-5544EF8B3A24}" type="pres">
      <dgm:prSet presAssocID="{154C86CB-0A63-45CA-B5B9-634254F283E5}" presName="tx1" presStyleLbl="revTx" presStyleIdx="1" presStyleCnt="3"/>
      <dgm:spPr/>
    </dgm:pt>
    <dgm:pt modelId="{903D89F6-553E-4167-B317-AE67CA70365C}" type="pres">
      <dgm:prSet presAssocID="{154C86CB-0A63-45CA-B5B9-634254F283E5}" presName="vert1" presStyleCnt="0"/>
      <dgm:spPr/>
    </dgm:pt>
    <dgm:pt modelId="{DF3F41EE-491A-4BE7-AC96-605BC0F90FD0}" type="pres">
      <dgm:prSet presAssocID="{9A065AB2-6C78-47A4-94DE-4486759CE741}" presName="thickLine" presStyleLbl="alignNode1" presStyleIdx="2" presStyleCnt="3"/>
      <dgm:spPr/>
    </dgm:pt>
    <dgm:pt modelId="{44BC06EC-A8E3-4A4F-963F-55DD2B2D1883}" type="pres">
      <dgm:prSet presAssocID="{9A065AB2-6C78-47A4-94DE-4486759CE741}" presName="horz1" presStyleCnt="0"/>
      <dgm:spPr/>
    </dgm:pt>
    <dgm:pt modelId="{98912B81-670B-4585-9E5A-098A22934EE8}" type="pres">
      <dgm:prSet presAssocID="{9A065AB2-6C78-47A4-94DE-4486759CE741}" presName="tx1" presStyleLbl="revTx" presStyleIdx="2" presStyleCnt="3"/>
      <dgm:spPr/>
    </dgm:pt>
    <dgm:pt modelId="{216DCCB5-4334-49E0-8E6E-74C1B9DB2E82}" type="pres">
      <dgm:prSet presAssocID="{9A065AB2-6C78-47A4-94DE-4486759CE741}" presName="vert1" presStyleCnt="0"/>
      <dgm:spPr/>
    </dgm:pt>
  </dgm:ptLst>
  <dgm:cxnLst>
    <dgm:cxn modelId="{B877341C-FCAA-49C8-98AC-2E1745B46716}" srcId="{EF0CD9A4-07B7-4078-9E45-369766E34489}" destId="{154C86CB-0A63-45CA-B5B9-634254F283E5}" srcOrd="1" destOrd="0" parTransId="{FC5CC694-45FB-4DA6-A060-4A4E4386E85A}" sibTransId="{538F4614-5AF4-46F5-83F1-8C2A2A949CF8}"/>
    <dgm:cxn modelId="{0F1D4D37-C42C-405A-B2FC-97F9D08136CE}" type="presOf" srcId="{154C86CB-0A63-45CA-B5B9-634254F283E5}" destId="{B6AD92B6-05B3-4C3E-8533-5544EF8B3A24}" srcOrd="0" destOrd="0" presId="urn:microsoft.com/office/officeart/2008/layout/LinedList"/>
    <dgm:cxn modelId="{46086738-E6A7-48A9-9672-B9401023AD50}" type="presOf" srcId="{EF0CD9A4-07B7-4078-9E45-369766E34489}" destId="{CE4E04AD-2C3F-44FD-850A-A7D2847C30EB}" srcOrd="0" destOrd="0" presId="urn:microsoft.com/office/officeart/2008/layout/LinedList"/>
    <dgm:cxn modelId="{28010660-7231-4B9A-BDA4-69311DAAF5E6}" type="presOf" srcId="{723B967C-0690-4CBD-9CFC-6346688CCF78}" destId="{8FA23D74-C0DA-450B-99DA-0CC999BF4236}" srcOrd="0" destOrd="0" presId="urn:microsoft.com/office/officeart/2008/layout/LinedList"/>
    <dgm:cxn modelId="{CB0EDB50-FE4E-4649-A079-D5C4E6A91CD7}" srcId="{EF0CD9A4-07B7-4078-9E45-369766E34489}" destId="{723B967C-0690-4CBD-9CFC-6346688CCF78}" srcOrd="0" destOrd="0" parTransId="{92315D82-CBB1-4E01-88C0-C3C8671C962F}" sibTransId="{1165C221-E1F8-4C4F-A874-919860EA6A4E}"/>
    <dgm:cxn modelId="{F27780A4-2540-4562-901C-1E0D0F7D55E7}" srcId="{EF0CD9A4-07B7-4078-9E45-369766E34489}" destId="{9A065AB2-6C78-47A4-94DE-4486759CE741}" srcOrd="2" destOrd="0" parTransId="{6D067BA9-03E2-4FA1-93F5-A8B35CE70CC8}" sibTransId="{B75967D6-CBEB-4168-865E-CB98A5DED07C}"/>
    <dgm:cxn modelId="{48041BC7-A4CB-4927-B4CB-E2D70BF81B59}" type="presOf" srcId="{9A065AB2-6C78-47A4-94DE-4486759CE741}" destId="{98912B81-670B-4585-9E5A-098A22934EE8}" srcOrd="0" destOrd="0" presId="urn:microsoft.com/office/officeart/2008/layout/LinedList"/>
    <dgm:cxn modelId="{501E4EA4-1B6B-4878-B1F8-4DE8FED8AFC6}" type="presParOf" srcId="{CE4E04AD-2C3F-44FD-850A-A7D2847C30EB}" destId="{3A55FA1D-694E-4101-A925-C8F3EDC32407}" srcOrd="0" destOrd="0" presId="urn:microsoft.com/office/officeart/2008/layout/LinedList"/>
    <dgm:cxn modelId="{6A3CC300-DD7F-494A-80B0-7AC14DDAD55C}" type="presParOf" srcId="{CE4E04AD-2C3F-44FD-850A-A7D2847C30EB}" destId="{8E52E0D3-0712-42F1-9F46-28BF0FB56D5E}" srcOrd="1" destOrd="0" presId="urn:microsoft.com/office/officeart/2008/layout/LinedList"/>
    <dgm:cxn modelId="{506CF91D-6AD5-46D2-AC5B-8FAFA7DE7FED}" type="presParOf" srcId="{8E52E0D3-0712-42F1-9F46-28BF0FB56D5E}" destId="{8FA23D74-C0DA-450B-99DA-0CC999BF4236}" srcOrd="0" destOrd="0" presId="urn:microsoft.com/office/officeart/2008/layout/LinedList"/>
    <dgm:cxn modelId="{B18F2F42-1A89-46C6-95DB-0F542697794C}" type="presParOf" srcId="{8E52E0D3-0712-42F1-9F46-28BF0FB56D5E}" destId="{DD3832C1-B509-4EB1-85E7-A6BF6393AE5C}" srcOrd="1" destOrd="0" presId="urn:microsoft.com/office/officeart/2008/layout/LinedList"/>
    <dgm:cxn modelId="{2CE25878-8119-4AD0-8B8F-9670598D42EA}" type="presParOf" srcId="{CE4E04AD-2C3F-44FD-850A-A7D2847C30EB}" destId="{B22AF550-8195-41A7-A854-56D4B582BE66}" srcOrd="2" destOrd="0" presId="urn:microsoft.com/office/officeart/2008/layout/LinedList"/>
    <dgm:cxn modelId="{D540CD75-90E3-4DE6-882E-D07D9280B134}" type="presParOf" srcId="{CE4E04AD-2C3F-44FD-850A-A7D2847C30EB}" destId="{98B93004-8CD7-4DC6-9AD7-E16F1A6B67C2}" srcOrd="3" destOrd="0" presId="urn:microsoft.com/office/officeart/2008/layout/LinedList"/>
    <dgm:cxn modelId="{9C6B12AC-25A6-40AE-96E4-6E42604B70C9}" type="presParOf" srcId="{98B93004-8CD7-4DC6-9AD7-E16F1A6B67C2}" destId="{B6AD92B6-05B3-4C3E-8533-5544EF8B3A24}" srcOrd="0" destOrd="0" presId="urn:microsoft.com/office/officeart/2008/layout/LinedList"/>
    <dgm:cxn modelId="{41C32B0C-2BE1-43D4-90BD-18FCDFBAF88B}" type="presParOf" srcId="{98B93004-8CD7-4DC6-9AD7-E16F1A6B67C2}" destId="{903D89F6-553E-4167-B317-AE67CA70365C}" srcOrd="1" destOrd="0" presId="urn:microsoft.com/office/officeart/2008/layout/LinedList"/>
    <dgm:cxn modelId="{008C0E7C-A49D-4EA8-90BF-A3FFF9D6F11E}" type="presParOf" srcId="{CE4E04AD-2C3F-44FD-850A-A7D2847C30EB}" destId="{DF3F41EE-491A-4BE7-AC96-605BC0F90FD0}" srcOrd="4" destOrd="0" presId="urn:microsoft.com/office/officeart/2008/layout/LinedList"/>
    <dgm:cxn modelId="{45010F1A-2AAB-4395-8A9E-57912453F627}" type="presParOf" srcId="{CE4E04AD-2C3F-44FD-850A-A7D2847C30EB}" destId="{44BC06EC-A8E3-4A4F-963F-55DD2B2D1883}" srcOrd="5" destOrd="0" presId="urn:microsoft.com/office/officeart/2008/layout/LinedList"/>
    <dgm:cxn modelId="{CAAF0CFF-5217-4200-A960-E3E5316C2AA8}" type="presParOf" srcId="{44BC06EC-A8E3-4A4F-963F-55DD2B2D1883}" destId="{98912B81-670B-4585-9E5A-098A22934EE8}" srcOrd="0" destOrd="0" presId="urn:microsoft.com/office/officeart/2008/layout/LinedList"/>
    <dgm:cxn modelId="{E304C44C-6793-478F-AA4D-A8096F6A9F71}" type="presParOf" srcId="{44BC06EC-A8E3-4A4F-963F-55DD2B2D1883}" destId="{216DCCB5-4334-49E0-8E6E-74C1B9DB2E8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2E6B5D-D195-4112-98D0-83C39691885F}">
      <dsp:nvSpPr>
        <dsp:cNvPr id="0" name=""/>
        <dsp:cNvSpPr/>
      </dsp:nvSpPr>
      <dsp:spPr>
        <a:xfrm>
          <a:off x="0" y="478"/>
          <a:ext cx="3993357"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8EE6DE-CB18-4C2C-A677-A5DA448B7CAD}">
      <dsp:nvSpPr>
        <dsp:cNvPr id="0" name=""/>
        <dsp:cNvSpPr/>
      </dsp:nvSpPr>
      <dsp:spPr>
        <a:xfrm>
          <a:off x="0" y="478"/>
          <a:ext cx="3993357" cy="783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 Measures how far the model’s predictions are from the true values.</a:t>
          </a:r>
        </a:p>
      </dsp:txBody>
      <dsp:txXfrm>
        <a:off x="0" y="478"/>
        <a:ext cx="3993357" cy="783716"/>
      </dsp:txXfrm>
    </dsp:sp>
    <dsp:sp modelId="{196CD4EF-4B11-4C15-848C-935B962E3831}">
      <dsp:nvSpPr>
        <dsp:cNvPr id="0" name=""/>
        <dsp:cNvSpPr/>
      </dsp:nvSpPr>
      <dsp:spPr>
        <a:xfrm>
          <a:off x="0" y="784194"/>
          <a:ext cx="3993357"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C55161-95DC-45D5-98F5-87CD2FD0D428}">
      <dsp:nvSpPr>
        <dsp:cNvPr id="0" name=""/>
        <dsp:cNvSpPr/>
      </dsp:nvSpPr>
      <dsp:spPr>
        <a:xfrm>
          <a:off x="0" y="784194"/>
          <a:ext cx="3993357" cy="783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 Lower loss = better model performance.</a:t>
          </a:r>
        </a:p>
      </dsp:txBody>
      <dsp:txXfrm>
        <a:off x="0" y="784194"/>
        <a:ext cx="3993357" cy="783716"/>
      </dsp:txXfrm>
    </dsp:sp>
    <dsp:sp modelId="{1C074D9F-D08A-4980-A56C-6C2810FD1039}">
      <dsp:nvSpPr>
        <dsp:cNvPr id="0" name=""/>
        <dsp:cNvSpPr/>
      </dsp:nvSpPr>
      <dsp:spPr>
        <a:xfrm>
          <a:off x="0" y="1567910"/>
          <a:ext cx="3993357"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D153EE-7E6E-4172-BF9B-A8C65CC84EC2}">
      <dsp:nvSpPr>
        <dsp:cNvPr id="0" name=""/>
        <dsp:cNvSpPr/>
      </dsp:nvSpPr>
      <dsp:spPr>
        <a:xfrm>
          <a:off x="0" y="1567910"/>
          <a:ext cx="3993357" cy="783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 Examples:</a:t>
          </a:r>
        </a:p>
      </dsp:txBody>
      <dsp:txXfrm>
        <a:off x="0" y="1567910"/>
        <a:ext cx="3993357" cy="783716"/>
      </dsp:txXfrm>
    </dsp:sp>
    <dsp:sp modelId="{C1FC61DD-E8B6-4A96-A48F-DA419A5B6EF6}">
      <dsp:nvSpPr>
        <dsp:cNvPr id="0" name=""/>
        <dsp:cNvSpPr/>
      </dsp:nvSpPr>
      <dsp:spPr>
        <a:xfrm>
          <a:off x="0" y="2351627"/>
          <a:ext cx="3993357"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DDBB67-291C-456D-8267-D05EA47E045A}">
      <dsp:nvSpPr>
        <dsp:cNvPr id="0" name=""/>
        <dsp:cNvSpPr/>
      </dsp:nvSpPr>
      <dsp:spPr>
        <a:xfrm>
          <a:off x="0" y="2351627"/>
          <a:ext cx="3993357" cy="783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 Mean Squared Error (MSE) – used for regression tasks.</a:t>
          </a:r>
        </a:p>
      </dsp:txBody>
      <dsp:txXfrm>
        <a:off x="0" y="2351627"/>
        <a:ext cx="3993357" cy="783716"/>
      </dsp:txXfrm>
    </dsp:sp>
    <dsp:sp modelId="{BC3B72DE-3115-4435-AF3B-A24E846CDD36}">
      <dsp:nvSpPr>
        <dsp:cNvPr id="0" name=""/>
        <dsp:cNvSpPr/>
      </dsp:nvSpPr>
      <dsp:spPr>
        <a:xfrm>
          <a:off x="0" y="3135343"/>
          <a:ext cx="3993357" cy="0"/>
        </a:xfrm>
        <a:prstGeom prst="line">
          <a:avLst/>
        </a:prstGeom>
        <a:solidFill>
          <a:schemeClr val="accent6">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6AFDC3-AE37-4C7F-BDA0-C70D886434DC}">
      <dsp:nvSpPr>
        <dsp:cNvPr id="0" name=""/>
        <dsp:cNvSpPr/>
      </dsp:nvSpPr>
      <dsp:spPr>
        <a:xfrm>
          <a:off x="0" y="3135343"/>
          <a:ext cx="3993357" cy="7837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 Cross-Entropy Loss – used for classification problems.</a:t>
          </a:r>
        </a:p>
      </dsp:txBody>
      <dsp:txXfrm>
        <a:off x="0" y="3135343"/>
        <a:ext cx="3993357" cy="7837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68771F-E580-481A-A0A4-BFC7E00CAC25}">
      <dsp:nvSpPr>
        <dsp:cNvPr id="0" name=""/>
        <dsp:cNvSpPr/>
      </dsp:nvSpPr>
      <dsp:spPr>
        <a:xfrm>
          <a:off x="0" y="1913"/>
          <a:ext cx="3993357"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4740C64-E788-4284-BD9A-0416403A034F}">
      <dsp:nvSpPr>
        <dsp:cNvPr id="0" name=""/>
        <dsp:cNvSpPr/>
      </dsp:nvSpPr>
      <dsp:spPr>
        <a:xfrm>
          <a:off x="0" y="1913"/>
          <a:ext cx="3993357" cy="652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 Optimization algorithms reduce loss by updating weights iteratively.</a:t>
          </a:r>
        </a:p>
      </dsp:txBody>
      <dsp:txXfrm>
        <a:off x="0" y="1913"/>
        <a:ext cx="3993357" cy="652618"/>
      </dsp:txXfrm>
    </dsp:sp>
    <dsp:sp modelId="{B53D6037-4F58-408C-810B-72850E01835F}">
      <dsp:nvSpPr>
        <dsp:cNvPr id="0" name=""/>
        <dsp:cNvSpPr/>
      </dsp:nvSpPr>
      <dsp:spPr>
        <a:xfrm>
          <a:off x="0" y="654532"/>
          <a:ext cx="3993357"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CEF785-5486-4E14-84EC-DDCA39D43002}">
      <dsp:nvSpPr>
        <dsp:cNvPr id="0" name=""/>
        <dsp:cNvSpPr/>
      </dsp:nvSpPr>
      <dsp:spPr>
        <a:xfrm>
          <a:off x="0" y="654532"/>
          <a:ext cx="3993357" cy="652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 Common optimizers include:</a:t>
          </a:r>
        </a:p>
      </dsp:txBody>
      <dsp:txXfrm>
        <a:off x="0" y="654532"/>
        <a:ext cx="3993357" cy="652618"/>
      </dsp:txXfrm>
    </dsp:sp>
    <dsp:sp modelId="{C5C7236B-AAAB-4049-981F-4F656F83488A}">
      <dsp:nvSpPr>
        <dsp:cNvPr id="0" name=""/>
        <dsp:cNvSpPr/>
      </dsp:nvSpPr>
      <dsp:spPr>
        <a:xfrm>
          <a:off x="0" y="1307150"/>
          <a:ext cx="3993357"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A04FA3-0742-4160-94BA-C6F1888AABA4}">
      <dsp:nvSpPr>
        <dsp:cNvPr id="0" name=""/>
        <dsp:cNvSpPr/>
      </dsp:nvSpPr>
      <dsp:spPr>
        <a:xfrm>
          <a:off x="0" y="1307150"/>
          <a:ext cx="3993357" cy="652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 Gradient Descent</a:t>
          </a:r>
        </a:p>
      </dsp:txBody>
      <dsp:txXfrm>
        <a:off x="0" y="1307150"/>
        <a:ext cx="3993357" cy="652618"/>
      </dsp:txXfrm>
    </dsp:sp>
    <dsp:sp modelId="{7BC06BA8-C3B3-401D-BE0C-0457B074CFCD}">
      <dsp:nvSpPr>
        <dsp:cNvPr id="0" name=""/>
        <dsp:cNvSpPr/>
      </dsp:nvSpPr>
      <dsp:spPr>
        <a:xfrm>
          <a:off x="0" y="1959768"/>
          <a:ext cx="3993357"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0F8CA5-B7A5-4E67-9CFD-46F0E16E9B73}">
      <dsp:nvSpPr>
        <dsp:cNvPr id="0" name=""/>
        <dsp:cNvSpPr/>
      </dsp:nvSpPr>
      <dsp:spPr>
        <a:xfrm>
          <a:off x="0" y="1959768"/>
          <a:ext cx="3993357" cy="652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 Stochastic Gradient Descent (SGD)</a:t>
          </a:r>
        </a:p>
      </dsp:txBody>
      <dsp:txXfrm>
        <a:off x="0" y="1959768"/>
        <a:ext cx="3993357" cy="652618"/>
      </dsp:txXfrm>
    </dsp:sp>
    <dsp:sp modelId="{372419D6-4923-449D-B582-7F56E5612E32}">
      <dsp:nvSpPr>
        <dsp:cNvPr id="0" name=""/>
        <dsp:cNvSpPr/>
      </dsp:nvSpPr>
      <dsp:spPr>
        <a:xfrm>
          <a:off x="0" y="2612387"/>
          <a:ext cx="3993357"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498763-4710-42BD-A6C3-1DFC06090144}">
      <dsp:nvSpPr>
        <dsp:cNvPr id="0" name=""/>
        <dsp:cNvSpPr/>
      </dsp:nvSpPr>
      <dsp:spPr>
        <a:xfrm>
          <a:off x="0" y="2612387"/>
          <a:ext cx="3993357" cy="652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 Adam (Adaptive Moment Estimation)</a:t>
          </a:r>
        </a:p>
      </dsp:txBody>
      <dsp:txXfrm>
        <a:off x="0" y="2612387"/>
        <a:ext cx="3993357" cy="652618"/>
      </dsp:txXfrm>
    </dsp:sp>
    <dsp:sp modelId="{A98496E8-E864-4395-9542-FB78FDC82279}">
      <dsp:nvSpPr>
        <dsp:cNvPr id="0" name=""/>
        <dsp:cNvSpPr/>
      </dsp:nvSpPr>
      <dsp:spPr>
        <a:xfrm>
          <a:off x="0" y="3265005"/>
          <a:ext cx="3993357"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6DFBCD-CEAD-4423-A053-18BA98523E16}">
      <dsp:nvSpPr>
        <dsp:cNvPr id="0" name=""/>
        <dsp:cNvSpPr/>
      </dsp:nvSpPr>
      <dsp:spPr>
        <a:xfrm>
          <a:off x="0" y="3265005"/>
          <a:ext cx="3993357" cy="652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 They improve model accuracy and speed up learning.</a:t>
          </a:r>
        </a:p>
      </dsp:txBody>
      <dsp:txXfrm>
        <a:off x="0" y="3265005"/>
        <a:ext cx="3993357" cy="6526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55FA1D-694E-4101-A925-C8F3EDC32407}">
      <dsp:nvSpPr>
        <dsp:cNvPr id="0" name=""/>
        <dsp:cNvSpPr/>
      </dsp:nvSpPr>
      <dsp:spPr>
        <a:xfrm>
          <a:off x="0" y="1913"/>
          <a:ext cx="3993357"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FA23D74-C0DA-450B-99DA-0CC999BF4236}">
      <dsp:nvSpPr>
        <dsp:cNvPr id="0" name=""/>
        <dsp:cNvSpPr/>
      </dsp:nvSpPr>
      <dsp:spPr>
        <a:xfrm>
          <a:off x="0" y="1913"/>
          <a:ext cx="3993357" cy="130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 Neural networks learn by adjusting weights based on feedback.</a:t>
          </a:r>
        </a:p>
      </dsp:txBody>
      <dsp:txXfrm>
        <a:off x="0" y="1913"/>
        <a:ext cx="3993357" cy="1305236"/>
      </dsp:txXfrm>
    </dsp:sp>
    <dsp:sp modelId="{B22AF550-8195-41A7-A854-56D4B582BE66}">
      <dsp:nvSpPr>
        <dsp:cNvPr id="0" name=""/>
        <dsp:cNvSpPr/>
      </dsp:nvSpPr>
      <dsp:spPr>
        <a:xfrm>
          <a:off x="0" y="1307150"/>
          <a:ext cx="3993357"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AD92B6-05B3-4C3E-8533-5544EF8B3A24}">
      <dsp:nvSpPr>
        <dsp:cNvPr id="0" name=""/>
        <dsp:cNvSpPr/>
      </dsp:nvSpPr>
      <dsp:spPr>
        <a:xfrm>
          <a:off x="0" y="1307150"/>
          <a:ext cx="3993357" cy="130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 Activation functions and optimizers control how effectively learning occurs.</a:t>
          </a:r>
        </a:p>
      </dsp:txBody>
      <dsp:txXfrm>
        <a:off x="0" y="1307150"/>
        <a:ext cx="3993357" cy="1305236"/>
      </dsp:txXfrm>
    </dsp:sp>
    <dsp:sp modelId="{DF3F41EE-491A-4BE7-AC96-605BC0F90FD0}">
      <dsp:nvSpPr>
        <dsp:cNvPr id="0" name=""/>
        <dsp:cNvSpPr/>
      </dsp:nvSpPr>
      <dsp:spPr>
        <a:xfrm>
          <a:off x="0" y="2612387"/>
          <a:ext cx="3993357"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912B81-670B-4585-9E5A-098A22934EE8}">
      <dsp:nvSpPr>
        <dsp:cNvPr id="0" name=""/>
        <dsp:cNvSpPr/>
      </dsp:nvSpPr>
      <dsp:spPr>
        <a:xfrm>
          <a:off x="0" y="2612387"/>
          <a:ext cx="3993357" cy="130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 Visualization tools like TensorFlow Playground simplify understanding of complex concepts.</a:t>
          </a:r>
        </a:p>
      </dsp:txBody>
      <dsp:txXfrm>
        <a:off x="0" y="2612387"/>
        <a:ext cx="3993357" cy="130523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pPr>
              <a:lnSpc>
                <a:spcPct val="90000"/>
              </a:lnSpc>
            </a:pPr>
            <a:r>
              <a:rPr lang="en-US" sz="3500"/>
              <a:t>Understanding Neural Network Components</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700"/>
              <a:t>Portfolio Artifact 7 </a:t>
            </a:r>
          </a:p>
          <a:p>
            <a:r>
              <a:rPr lang="en-US" sz="1700"/>
              <a:t>By: Yuvashree Srinivas</a:t>
            </a:r>
          </a:p>
        </p:txBody>
      </p:sp>
      <p:pic>
        <p:nvPicPr>
          <p:cNvPr id="5" name="Picture 4" descr="Human brain nerve cells">
            <a:extLst>
              <a:ext uri="{FF2B5EF4-FFF2-40B4-BE49-F238E27FC236}">
                <a16:creationId xmlns:a16="http://schemas.microsoft.com/office/drawing/2014/main" id="{4A089B53-5694-F4FD-A740-70855A91F6B6}"/>
              </a:ext>
            </a:extLst>
          </p:cNvPr>
          <p:cNvPicPr>
            <a:picLocks noChangeAspect="1"/>
          </p:cNvPicPr>
          <p:nvPr/>
        </p:nvPicPr>
        <p:blipFill>
          <a:blip r:embed="rId2"/>
          <a:srcRect l="13990" r="35954"/>
          <a:stretch>
            <a:fillRect/>
          </a:stretch>
        </p:blipFill>
        <p:spPr>
          <a:xfrm>
            <a:off x="4572000" y="1"/>
            <a:ext cx="457711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What is a Neural Network?</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700"/>
              <a:t>• A neural network is a computational model inspired by the human brain.</a:t>
            </a:r>
          </a:p>
          <a:p>
            <a:r>
              <a:rPr lang="en-US" sz="1700"/>
              <a:t>• It consists of layers of interconnected neurons that process input data to identify patterns and make predictions.</a:t>
            </a:r>
          </a:p>
          <a:p>
            <a:r>
              <a:rPr lang="en-US" sz="1700"/>
              <a:t>• Each connection between neurons carries a weight that determines the influence of the input.</a:t>
            </a:r>
          </a:p>
        </p:txBody>
      </p:sp>
      <p:pic>
        <p:nvPicPr>
          <p:cNvPr id="5" name="Picture 4" descr="Neuron system in 3D rendering">
            <a:extLst>
              <a:ext uri="{FF2B5EF4-FFF2-40B4-BE49-F238E27FC236}">
                <a16:creationId xmlns:a16="http://schemas.microsoft.com/office/drawing/2014/main" id="{CFD7A3E5-B278-F057-EAFC-33EA72BB305A}"/>
              </a:ext>
            </a:extLst>
          </p:cNvPr>
          <p:cNvPicPr>
            <a:picLocks noChangeAspect="1"/>
          </p:cNvPicPr>
          <p:nvPr/>
        </p:nvPicPr>
        <p:blipFill>
          <a:blip r:embed="rId2"/>
          <a:srcRect l="35416" r="19366" b="-1"/>
          <a:stretch>
            <a:fillRect/>
          </a:stretch>
        </p:blipFill>
        <p:spPr>
          <a:xfrm>
            <a:off x="4572000" y="1"/>
            <a:ext cx="457711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Structure of a Neural Network</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700"/>
              <a:t>• Input Layer – Receives raw data such as numbers or images.</a:t>
            </a:r>
          </a:p>
          <a:p>
            <a:r>
              <a:rPr lang="en-US" sz="1700"/>
              <a:t>• Hidden Layers – Perform intermediate processing and feature extraction.</a:t>
            </a:r>
          </a:p>
          <a:p>
            <a:r>
              <a:rPr lang="en-US" sz="1700"/>
              <a:t>• Output Layer – Produces the final prediction or classification result.</a:t>
            </a:r>
          </a:p>
          <a:p>
            <a:endParaRPr lang="en-US" sz="1700"/>
          </a:p>
          <a:p>
            <a:r>
              <a:rPr lang="en-US" sz="1700"/>
              <a:t>Visual: Simple diagram showing Input → Hidden Layers → Output.</a:t>
            </a:r>
          </a:p>
        </p:txBody>
      </p:sp>
      <p:pic>
        <p:nvPicPr>
          <p:cNvPr id="5" name="Picture 4">
            <a:extLst>
              <a:ext uri="{FF2B5EF4-FFF2-40B4-BE49-F238E27FC236}">
                <a16:creationId xmlns:a16="http://schemas.microsoft.com/office/drawing/2014/main" id="{C0E311CB-FC3E-7AA5-80D1-AC0B4E22467F}"/>
              </a:ext>
            </a:extLst>
          </p:cNvPr>
          <p:cNvPicPr>
            <a:picLocks noChangeAspect="1"/>
          </p:cNvPicPr>
          <p:nvPr/>
        </p:nvPicPr>
        <p:blipFill>
          <a:blip r:embed="rId2"/>
          <a:srcRect l="46845" r="11608" b="-1"/>
          <a:stretch>
            <a:fillRect/>
          </a:stretch>
        </p:blipFill>
        <p:spPr>
          <a:xfrm>
            <a:off x="4572000" y="1"/>
            <a:ext cx="4577118"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Neurons</a:t>
            </a:r>
          </a:p>
        </p:txBody>
      </p:sp>
      <p:sp>
        <p:nvSpPr>
          <p:cNvPr id="3" name="Content Placeholder 2"/>
          <p:cNvSpPr>
            <a:spLocks noGrp="1"/>
          </p:cNvSpPr>
          <p:nvPr>
            <p:ph idx="1"/>
          </p:nvPr>
        </p:nvSpPr>
        <p:spPr>
          <a:xfrm>
            <a:off x="571350" y="2470244"/>
            <a:ext cx="4000647" cy="3769835"/>
          </a:xfrm>
        </p:spPr>
        <p:txBody>
          <a:bodyPr anchor="ctr">
            <a:normAutofit/>
          </a:bodyPr>
          <a:lstStyle/>
          <a:p>
            <a:r>
              <a:rPr lang="en-US" sz="1700"/>
              <a:t>• Each neuron receives multiple inputs.</a:t>
            </a:r>
          </a:p>
          <a:p>
            <a:r>
              <a:rPr lang="en-US" sz="1700"/>
              <a:t>• It multiplies each input by a corresponding weight, adds a bias, and passes the result through an activation function.</a:t>
            </a:r>
          </a:p>
          <a:p>
            <a:r>
              <a:rPr lang="en-US" sz="1700"/>
              <a:t>• Output is then sent to the next layer.</a:t>
            </a:r>
          </a:p>
          <a:p>
            <a:endParaRPr lang="en-US" sz="1700"/>
          </a:p>
          <a:p>
            <a:r>
              <a:rPr lang="en-US" sz="1700"/>
              <a:t>Formula: Output = Activation(Σ(Weight × Input) + Bias)</a:t>
            </a:r>
          </a:p>
        </p:txBody>
      </p:sp>
      <p:pic>
        <p:nvPicPr>
          <p:cNvPr id="5" name="Picture 4" descr="Chemical formulas are written on paper">
            <a:extLst>
              <a:ext uri="{FF2B5EF4-FFF2-40B4-BE49-F238E27FC236}">
                <a16:creationId xmlns:a16="http://schemas.microsoft.com/office/drawing/2014/main" id="{DAA2F1FC-0294-8B35-19EC-E55C7ED858D1}"/>
              </a:ext>
            </a:extLst>
          </p:cNvPr>
          <p:cNvPicPr>
            <a:picLocks noChangeAspect="1"/>
          </p:cNvPicPr>
          <p:nvPr/>
        </p:nvPicPr>
        <p:blipFill>
          <a:blip r:embed="rId2"/>
          <a:srcRect l="33392" r="33846"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Weights</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700"/>
              <a:t>• Weights control the strength of connections between neurons.</a:t>
            </a:r>
          </a:p>
          <a:p>
            <a:r>
              <a:rPr lang="en-US" sz="1700"/>
              <a:t>• Higher weights increase the influence of certain inputs.</a:t>
            </a:r>
          </a:p>
          <a:p>
            <a:r>
              <a:rPr lang="en-US" sz="1700"/>
              <a:t>• Adjusting weights during training allows the network to learn from errors.</a:t>
            </a:r>
          </a:p>
        </p:txBody>
      </p:sp>
      <p:pic>
        <p:nvPicPr>
          <p:cNvPr id="13" name="Picture 12" descr="Dumbbell rack at gym">
            <a:extLst>
              <a:ext uri="{FF2B5EF4-FFF2-40B4-BE49-F238E27FC236}">
                <a16:creationId xmlns:a16="http://schemas.microsoft.com/office/drawing/2014/main" id="{49D167C3-9F03-02B0-205B-103EA5E33CAD}"/>
              </a:ext>
            </a:extLst>
          </p:cNvPr>
          <p:cNvPicPr>
            <a:picLocks noChangeAspect="1"/>
          </p:cNvPicPr>
          <p:nvPr/>
        </p:nvPicPr>
        <p:blipFill>
          <a:blip r:embed="rId2"/>
          <a:srcRect l="16168" r="42452" b="-1"/>
          <a:stretch>
            <a:fillRect/>
          </a:stretch>
        </p:blipFill>
        <p:spPr>
          <a:xfrm>
            <a:off x="4572000" y="1"/>
            <a:ext cx="4577118"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Activation Functions</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700"/>
              <a:t>• Introduce non-linearity to help the network learn complex relationships.</a:t>
            </a:r>
          </a:p>
          <a:p>
            <a:r>
              <a:rPr lang="en-US" sz="1700"/>
              <a:t>• Common examples:</a:t>
            </a:r>
          </a:p>
          <a:p>
            <a:r>
              <a:rPr lang="en-US" sz="1700"/>
              <a:t>  - ReLU (Rectified Linear Unit): max(0, x)</a:t>
            </a:r>
          </a:p>
          <a:p>
            <a:r>
              <a:rPr lang="en-US" sz="1700"/>
              <a:t>  - Sigmoid: 1 / (1 + e^-x)</a:t>
            </a:r>
          </a:p>
          <a:p>
            <a:r>
              <a:rPr lang="en-US" sz="1700"/>
              <a:t>  - Tanh: (e^x - e^-x) / (e^x + e^-x)</a:t>
            </a:r>
          </a:p>
        </p:txBody>
      </p:sp>
      <p:pic>
        <p:nvPicPr>
          <p:cNvPr id="5" name="Picture 4">
            <a:extLst>
              <a:ext uri="{FF2B5EF4-FFF2-40B4-BE49-F238E27FC236}">
                <a16:creationId xmlns:a16="http://schemas.microsoft.com/office/drawing/2014/main" id="{1BC7F2B4-B75D-DCC5-A40F-8BF488F2DAC9}"/>
              </a:ext>
            </a:extLst>
          </p:cNvPr>
          <p:cNvPicPr>
            <a:picLocks noChangeAspect="1"/>
          </p:cNvPicPr>
          <p:nvPr/>
        </p:nvPicPr>
        <p:blipFill>
          <a:blip r:embed="rId2"/>
          <a:srcRect l="23826" r="38632"/>
          <a:stretch>
            <a:fillRect/>
          </a:stretch>
        </p:blipFill>
        <p:spPr>
          <a:xfrm>
            <a:off x="4572000" y="1"/>
            <a:ext cx="4577118"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0758" y="327025"/>
            <a:ext cx="3993358" cy="1630363"/>
          </a:xfrm>
        </p:spPr>
        <p:txBody>
          <a:bodyPr anchor="b">
            <a:normAutofit/>
          </a:bodyPr>
          <a:lstStyle/>
          <a:p>
            <a:r>
              <a:rPr lang="en-US" sz="3100"/>
              <a:t>Loss Function</a:t>
            </a:r>
          </a:p>
        </p:txBody>
      </p:sp>
      <p:pic>
        <p:nvPicPr>
          <p:cNvPr id="6" name="Picture 5">
            <a:extLst>
              <a:ext uri="{FF2B5EF4-FFF2-40B4-BE49-F238E27FC236}">
                <a16:creationId xmlns:a16="http://schemas.microsoft.com/office/drawing/2014/main" id="{B7E854BB-EA37-1760-A81E-C3E92DBDD558}"/>
              </a:ext>
            </a:extLst>
          </p:cNvPr>
          <p:cNvPicPr>
            <a:picLocks noChangeAspect="1"/>
          </p:cNvPicPr>
          <p:nvPr/>
        </p:nvPicPr>
        <p:blipFill>
          <a:blip r:embed="rId2"/>
          <a:srcRect r="48925" b="1"/>
          <a:stretch>
            <a:fillRect/>
          </a:stretch>
        </p:blipFill>
        <p:spPr>
          <a:xfrm>
            <a:off x="4474766" y="1"/>
            <a:ext cx="4669234" cy="6856412"/>
          </a:xfrm>
          <a:custGeom>
            <a:avLst/>
            <a:gdLst/>
            <a:ahLst/>
            <a:cxnLst/>
            <a:rect l="l" t="t" r="r" b="b"/>
            <a:pathLst>
              <a:path w="5620032" h="6856412">
                <a:moveTo>
                  <a:pt x="13187" y="0"/>
                </a:moveTo>
                <a:lnTo>
                  <a:pt x="5620032" y="0"/>
                </a:lnTo>
                <a:lnTo>
                  <a:pt x="5620032" y="6856412"/>
                </a:lnTo>
                <a:lnTo>
                  <a:pt x="0" y="6856412"/>
                </a:lnTo>
                <a:lnTo>
                  <a:pt x="64318" y="6298274"/>
                </a:lnTo>
                <a:cubicBezTo>
                  <a:pt x="203221" y="4970220"/>
                  <a:pt x="240510" y="3632077"/>
                  <a:pt x="97152" y="2276000"/>
                </a:cubicBezTo>
                <a:cubicBezTo>
                  <a:pt x="35713" y="1694824"/>
                  <a:pt x="7455" y="1116942"/>
                  <a:pt x="6154" y="541737"/>
                </a:cubicBezTo>
                <a:close/>
              </a:path>
            </a:pathLst>
          </a:custGeom>
        </p:spPr>
      </p:pic>
      <p:graphicFrame>
        <p:nvGraphicFramePr>
          <p:cNvPr id="5" name="Content Placeholder 2">
            <a:extLst>
              <a:ext uri="{FF2B5EF4-FFF2-40B4-BE49-F238E27FC236}">
                <a16:creationId xmlns:a16="http://schemas.microsoft.com/office/drawing/2014/main" id="{E1B9F7C4-5C3C-B797-3F73-50F9A9E9EFA8}"/>
              </a:ext>
            </a:extLst>
          </p:cNvPr>
          <p:cNvGraphicFramePr>
            <a:graphicFrameLocks noGrp="1"/>
          </p:cNvGraphicFramePr>
          <p:nvPr>
            <p:ph idx="1"/>
            <p:extLst>
              <p:ext uri="{D42A27DB-BD31-4B8C-83A1-F6EECF244321}">
                <p14:modId xmlns:p14="http://schemas.microsoft.com/office/powerpoint/2010/main" val="3435430418"/>
              </p:ext>
            </p:extLst>
          </p:nvPr>
        </p:nvGraphicFramePr>
        <p:xfrm>
          <a:off x="360759" y="2286001"/>
          <a:ext cx="3993357" cy="39195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0758" y="327025"/>
            <a:ext cx="3993358" cy="1630363"/>
          </a:xfrm>
        </p:spPr>
        <p:txBody>
          <a:bodyPr anchor="b">
            <a:normAutofit/>
          </a:bodyPr>
          <a:lstStyle/>
          <a:p>
            <a:r>
              <a:rPr lang="en-US" sz="3100"/>
              <a:t>Optimization Algorithms</a:t>
            </a:r>
          </a:p>
        </p:txBody>
      </p:sp>
      <p:pic>
        <p:nvPicPr>
          <p:cNvPr id="6" name="Picture 5">
            <a:extLst>
              <a:ext uri="{FF2B5EF4-FFF2-40B4-BE49-F238E27FC236}">
                <a16:creationId xmlns:a16="http://schemas.microsoft.com/office/drawing/2014/main" id="{D5C6E5F7-D541-2BFF-EC38-AB4D3D10A80F}"/>
              </a:ext>
            </a:extLst>
          </p:cNvPr>
          <p:cNvPicPr>
            <a:picLocks noChangeAspect="1"/>
          </p:cNvPicPr>
          <p:nvPr/>
        </p:nvPicPr>
        <p:blipFill>
          <a:blip r:embed="rId2"/>
          <a:srcRect l="26130" r="28412" b="-2"/>
          <a:stretch>
            <a:fillRect/>
          </a:stretch>
        </p:blipFill>
        <p:spPr>
          <a:xfrm>
            <a:off x="4474766" y="1"/>
            <a:ext cx="4669234" cy="6856412"/>
          </a:xfrm>
          <a:custGeom>
            <a:avLst/>
            <a:gdLst/>
            <a:ahLst/>
            <a:cxnLst/>
            <a:rect l="l" t="t" r="r" b="b"/>
            <a:pathLst>
              <a:path w="5620032" h="6856412">
                <a:moveTo>
                  <a:pt x="13187" y="0"/>
                </a:moveTo>
                <a:lnTo>
                  <a:pt x="5620032" y="0"/>
                </a:lnTo>
                <a:lnTo>
                  <a:pt x="5620032" y="6856412"/>
                </a:lnTo>
                <a:lnTo>
                  <a:pt x="0" y="6856412"/>
                </a:lnTo>
                <a:lnTo>
                  <a:pt x="64318" y="6298274"/>
                </a:lnTo>
                <a:cubicBezTo>
                  <a:pt x="203221" y="4970220"/>
                  <a:pt x="240510" y="3632077"/>
                  <a:pt x="97152" y="2276000"/>
                </a:cubicBezTo>
                <a:cubicBezTo>
                  <a:pt x="35713" y="1694824"/>
                  <a:pt x="7455" y="1116942"/>
                  <a:pt x="6154" y="541737"/>
                </a:cubicBezTo>
                <a:close/>
              </a:path>
            </a:pathLst>
          </a:custGeom>
        </p:spPr>
      </p:pic>
      <p:graphicFrame>
        <p:nvGraphicFramePr>
          <p:cNvPr id="5" name="Content Placeholder 2">
            <a:extLst>
              <a:ext uri="{FF2B5EF4-FFF2-40B4-BE49-F238E27FC236}">
                <a16:creationId xmlns:a16="http://schemas.microsoft.com/office/drawing/2014/main" id="{443E8A24-AD74-DDDD-CBED-8759943D4C75}"/>
              </a:ext>
            </a:extLst>
          </p:cNvPr>
          <p:cNvGraphicFramePr>
            <a:graphicFrameLocks noGrp="1"/>
          </p:cNvGraphicFramePr>
          <p:nvPr>
            <p:ph idx="1"/>
            <p:extLst>
              <p:ext uri="{D42A27DB-BD31-4B8C-83A1-F6EECF244321}">
                <p14:modId xmlns:p14="http://schemas.microsoft.com/office/powerpoint/2010/main" val="3859112833"/>
              </p:ext>
            </p:extLst>
          </p:nvPr>
        </p:nvGraphicFramePr>
        <p:xfrm>
          <a:off x="360759" y="2286001"/>
          <a:ext cx="3993357" cy="39195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9192C51-B764-4A9B-9587-5EF8B628B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6" y="557190"/>
            <a:ext cx="3886133" cy="1671569"/>
          </a:xfrm>
        </p:spPr>
        <p:txBody>
          <a:bodyPr>
            <a:normAutofit/>
          </a:bodyPr>
          <a:lstStyle/>
          <a:p>
            <a:r>
              <a:rPr lang="en-US" sz="3500"/>
              <a:t>Neural Network Workflow</a:t>
            </a:r>
          </a:p>
        </p:txBody>
      </p:sp>
      <p:sp>
        <p:nvSpPr>
          <p:cNvPr id="3" name="Content Placeholder 2"/>
          <p:cNvSpPr>
            <a:spLocks noGrp="1"/>
          </p:cNvSpPr>
          <p:nvPr>
            <p:ph idx="1"/>
          </p:nvPr>
        </p:nvSpPr>
        <p:spPr>
          <a:xfrm>
            <a:off x="486697" y="2406650"/>
            <a:ext cx="3886131" cy="3722438"/>
          </a:xfrm>
        </p:spPr>
        <p:txBody>
          <a:bodyPr>
            <a:normAutofit/>
          </a:bodyPr>
          <a:lstStyle/>
          <a:p>
            <a:r>
              <a:rPr lang="en-US" sz="1700"/>
              <a:t>Data Flow:</a:t>
            </a:r>
          </a:p>
          <a:p>
            <a:r>
              <a:rPr lang="en-US" sz="1700"/>
              <a:t>Input Data → Weighted Connections → Activation Functions → Output → Compare with True Values → Adjust Weights via Optimizer.</a:t>
            </a:r>
          </a:p>
          <a:p>
            <a:endParaRPr lang="en-US" sz="1700"/>
          </a:p>
          <a:p>
            <a:r>
              <a:rPr lang="en-US" sz="1700"/>
              <a:t>Visual: A simple arrow flowchart showing how data and feedback loop through the network.</a:t>
            </a:r>
          </a:p>
        </p:txBody>
      </p:sp>
      <p:pic>
        <p:nvPicPr>
          <p:cNvPr id="5" name="Picture 4" descr="Top view of cubes connected with black lines">
            <a:extLst>
              <a:ext uri="{FF2B5EF4-FFF2-40B4-BE49-F238E27FC236}">
                <a16:creationId xmlns:a16="http://schemas.microsoft.com/office/drawing/2014/main" id="{C569B90C-B1DE-4DF2-EA93-3DE3455BC51A}"/>
              </a:ext>
            </a:extLst>
          </p:cNvPr>
          <p:cNvPicPr>
            <a:picLocks noChangeAspect="1"/>
          </p:cNvPicPr>
          <p:nvPr/>
        </p:nvPicPr>
        <p:blipFill>
          <a:blip r:embed="rId2"/>
          <a:srcRect l="30343" r="20421"/>
          <a:stretch>
            <a:fillRect/>
          </a:stretch>
        </p:blipFill>
        <p:spPr>
          <a:xfrm>
            <a:off x="4641866" y="10"/>
            <a:ext cx="4502133" cy="6857990"/>
          </a:xfrm>
          <a:prstGeom prst="rect">
            <a:avLst/>
          </a:prstGeom>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9192C51-B764-4A9B-9587-5EF8B628B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6" y="557190"/>
            <a:ext cx="3886133" cy="1671569"/>
          </a:xfrm>
        </p:spPr>
        <p:txBody>
          <a:bodyPr>
            <a:normAutofit/>
          </a:bodyPr>
          <a:lstStyle/>
          <a:p>
            <a:pPr>
              <a:lnSpc>
                <a:spcPct val="90000"/>
              </a:lnSpc>
            </a:pPr>
            <a:r>
              <a:rPr lang="en-US" sz="3500"/>
              <a:t>Insights from TensorFlow Playground</a:t>
            </a:r>
          </a:p>
        </p:txBody>
      </p:sp>
      <p:sp>
        <p:nvSpPr>
          <p:cNvPr id="3" name="Content Placeholder 2"/>
          <p:cNvSpPr>
            <a:spLocks noGrp="1"/>
          </p:cNvSpPr>
          <p:nvPr>
            <p:ph idx="1"/>
          </p:nvPr>
        </p:nvSpPr>
        <p:spPr>
          <a:xfrm>
            <a:off x="486697" y="2406650"/>
            <a:ext cx="3886131" cy="3722438"/>
          </a:xfrm>
        </p:spPr>
        <p:txBody>
          <a:bodyPr>
            <a:normAutofit/>
          </a:bodyPr>
          <a:lstStyle/>
          <a:p>
            <a:r>
              <a:rPr lang="en-US" sz="1700"/>
              <a:t>• Experimented with different data patterns, layers, and activations.</a:t>
            </a:r>
          </a:p>
          <a:p>
            <a:r>
              <a:rPr lang="en-US" sz="1700"/>
              <a:t>• Observed that more layers and neurons increase complexity but may slow training.</a:t>
            </a:r>
          </a:p>
          <a:p>
            <a:r>
              <a:rPr lang="en-US" sz="1700"/>
              <a:t>• Activation choice significantly impacts performance.</a:t>
            </a:r>
          </a:p>
          <a:p>
            <a:r>
              <a:rPr lang="en-US" sz="1700"/>
              <a:t>• Visualization enhanced understanding of model behavior.</a:t>
            </a:r>
          </a:p>
        </p:txBody>
      </p:sp>
      <p:pic>
        <p:nvPicPr>
          <p:cNvPr id="12" name="Picture 11" descr="3D box skeletons">
            <a:extLst>
              <a:ext uri="{FF2B5EF4-FFF2-40B4-BE49-F238E27FC236}">
                <a16:creationId xmlns:a16="http://schemas.microsoft.com/office/drawing/2014/main" id="{C58B8367-8030-BC4A-0134-B04448417781}"/>
              </a:ext>
            </a:extLst>
          </p:cNvPr>
          <p:cNvPicPr>
            <a:picLocks noChangeAspect="1"/>
          </p:cNvPicPr>
          <p:nvPr/>
        </p:nvPicPr>
        <p:blipFill>
          <a:blip r:embed="rId2"/>
          <a:srcRect l="29806" r="26373" b="-1"/>
          <a:stretch>
            <a:fillRect/>
          </a:stretch>
        </p:blipFill>
        <p:spPr>
          <a:xfrm>
            <a:off x="4641866" y="10"/>
            <a:ext cx="4502133" cy="6857990"/>
          </a:xfrm>
          <a:prstGeom prst="rect">
            <a:avLst/>
          </a:prstGeom>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0758" y="327025"/>
            <a:ext cx="3993358" cy="1630363"/>
          </a:xfrm>
        </p:spPr>
        <p:txBody>
          <a:bodyPr anchor="b">
            <a:normAutofit/>
          </a:bodyPr>
          <a:lstStyle/>
          <a:p>
            <a:r>
              <a:rPr lang="en-US" sz="3100"/>
              <a:t>Key Takeaways</a:t>
            </a:r>
          </a:p>
        </p:txBody>
      </p:sp>
      <p:pic>
        <p:nvPicPr>
          <p:cNvPr id="12" name="Picture 11">
            <a:extLst>
              <a:ext uri="{FF2B5EF4-FFF2-40B4-BE49-F238E27FC236}">
                <a16:creationId xmlns:a16="http://schemas.microsoft.com/office/drawing/2014/main" id="{79F2A140-F1DA-0BF9-6152-23E4C941A921}"/>
              </a:ext>
            </a:extLst>
          </p:cNvPr>
          <p:cNvPicPr>
            <a:picLocks noChangeAspect="1"/>
          </p:cNvPicPr>
          <p:nvPr/>
        </p:nvPicPr>
        <p:blipFill>
          <a:blip r:embed="rId2"/>
          <a:srcRect l="28154" r="26388" b="-2"/>
          <a:stretch>
            <a:fillRect/>
          </a:stretch>
        </p:blipFill>
        <p:spPr>
          <a:xfrm>
            <a:off x="4474766" y="1"/>
            <a:ext cx="4669234" cy="6856412"/>
          </a:xfrm>
          <a:custGeom>
            <a:avLst/>
            <a:gdLst/>
            <a:ahLst/>
            <a:cxnLst/>
            <a:rect l="l" t="t" r="r" b="b"/>
            <a:pathLst>
              <a:path w="5620032" h="6856412">
                <a:moveTo>
                  <a:pt x="13187" y="0"/>
                </a:moveTo>
                <a:lnTo>
                  <a:pt x="5620032" y="0"/>
                </a:lnTo>
                <a:lnTo>
                  <a:pt x="5620032" y="6856412"/>
                </a:lnTo>
                <a:lnTo>
                  <a:pt x="0" y="6856412"/>
                </a:lnTo>
                <a:lnTo>
                  <a:pt x="64318" y="6298274"/>
                </a:lnTo>
                <a:cubicBezTo>
                  <a:pt x="203221" y="4970220"/>
                  <a:pt x="240510" y="3632077"/>
                  <a:pt x="97152" y="2276000"/>
                </a:cubicBezTo>
                <a:cubicBezTo>
                  <a:pt x="35713" y="1694824"/>
                  <a:pt x="7455" y="1116942"/>
                  <a:pt x="6154" y="541737"/>
                </a:cubicBezTo>
                <a:close/>
              </a:path>
            </a:pathLst>
          </a:custGeom>
        </p:spPr>
      </p:pic>
      <p:graphicFrame>
        <p:nvGraphicFramePr>
          <p:cNvPr id="13" name="Content Placeholder 2">
            <a:extLst>
              <a:ext uri="{FF2B5EF4-FFF2-40B4-BE49-F238E27FC236}">
                <a16:creationId xmlns:a16="http://schemas.microsoft.com/office/drawing/2014/main" id="{2D9946B5-44DD-D96C-9A75-C803856817C4}"/>
              </a:ext>
            </a:extLst>
          </p:cNvPr>
          <p:cNvGraphicFramePr>
            <a:graphicFrameLocks noGrp="1"/>
          </p:cNvGraphicFramePr>
          <p:nvPr>
            <p:ph idx="1"/>
            <p:extLst>
              <p:ext uri="{D42A27DB-BD31-4B8C-83A1-F6EECF244321}">
                <p14:modId xmlns:p14="http://schemas.microsoft.com/office/powerpoint/2010/main" val="413727599"/>
              </p:ext>
            </p:extLst>
          </p:nvPr>
        </p:nvGraphicFramePr>
        <p:xfrm>
          <a:off x="360759" y="2286001"/>
          <a:ext cx="3993357" cy="39195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0AFAAC-EA6C-45A9-9E03-C9C9F0193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3D box skeletons">
            <a:extLst>
              <a:ext uri="{FF2B5EF4-FFF2-40B4-BE49-F238E27FC236}">
                <a16:creationId xmlns:a16="http://schemas.microsoft.com/office/drawing/2014/main" id="{AE7D11B7-1F0F-33B6-A606-4FEE689894C5}"/>
              </a:ext>
            </a:extLst>
          </p:cNvPr>
          <p:cNvPicPr>
            <a:picLocks noChangeAspect="1"/>
          </p:cNvPicPr>
          <p:nvPr/>
        </p:nvPicPr>
        <p:blipFill>
          <a:blip r:embed="rId2"/>
          <a:srcRect l="25039" r="21606" b="-1"/>
          <a:stretch>
            <a:fillRect/>
          </a:stretch>
        </p:blipFill>
        <p:spPr>
          <a:xfrm>
            <a:off x="3662266" y="10"/>
            <a:ext cx="5481734" cy="6857990"/>
          </a:xfrm>
          <a:custGeom>
            <a:avLst/>
            <a:gdLst/>
            <a:ahLst/>
            <a:cxnLst/>
            <a:rect l="l" t="t" r="r" b="b"/>
            <a:pathLst>
              <a:path w="7308978" h="6858000">
                <a:moveTo>
                  <a:pt x="0" y="0"/>
                </a:moveTo>
                <a:lnTo>
                  <a:pt x="7308978" y="0"/>
                </a:lnTo>
                <a:lnTo>
                  <a:pt x="7308978" y="6858000"/>
                </a:lnTo>
                <a:lnTo>
                  <a:pt x="0" y="6858000"/>
                </a:lnTo>
                <a:lnTo>
                  <a:pt x="62983" y="6788730"/>
                </a:lnTo>
                <a:cubicBezTo>
                  <a:pt x="773509" y="5928900"/>
                  <a:pt x="1212978" y="4741056"/>
                  <a:pt x="1212978" y="3429000"/>
                </a:cubicBezTo>
                <a:cubicBezTo>
                  <a:pt x="1212978" y="2116944"/>
                  <a:pt x="773509" y="929100"/>
                  <a:pt x="62983" y="69271"/>
                </a:cubicBezTo>
                <a:close/>
              </a:path>
            </a:pathLst>
          </a:custGeom>
        </p:spPr>
      </p:pic>
      <p:sp useBgFill="1">
        <p:nvSpPr>
          <p:cNvPr id="11" name="Freeform: Shape 10">
            <a:extLst>
              <a:ext uri="{FF2B5EF4-FFF2-40B4-BE49-F238E27FC236}">
                <a16:creationId xmlns:a16="http://schemas.microsoft.com/office/drawing/2014/main" id="{83549E37-C86B-4401-90BD-D8BF83859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custGeom>
            <a:avLst/>
            <a:gdLst>
              <a:gd name="connsiteX0" fmla="*/ 0 w 6096001"/>
              <a:gd name="connsiteY0" fmla="*/ 0 h 6858000"/>
              <a:gd name="connsiteX1" fmla="*/ 4883023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3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3" y="0"/>
                </a:lnTo>
                <a:lnTo>
                  <a:pt x="4946006" y="69271"/>
                </a:lnTo>
                <a:cubicBezTo>
                  <a:pt x="5656532" y="929100"/>
                  <a:pt x="6096001" y="2116944"/>
                  <a:pt x="6096001" y="3429000"/>
                </a:cubicBezTo>
                <a:cubicBezTo>
                  <a:pt x="6096001" y="4741056"/>
                  <a:pt x="5656532" y="5928900"/>
                  <a:pt x="4946006" y="6788730"/>
                </a:cubicBezTo>
                <a:lnTo>
                  <a:pt x="4883023"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8A17784E-76D8-4521-A77D-0D2EBB923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5142" cy="6858000"/>
          </a:xfrm>
          <a:custGeom>
            <a:avLst/>
            <a:gdLst>
              <a:gd name="connsiteX0" fmla="*/ 0 w 6086857"/>
              <a:gd name="connsiteY0" fmla="*/ 0 h 6858000"/>
              <a:gd name="connsiteX1" fmla="*/ 4873879 w 6086857"/>
              <a:gd name="connsiteY1" fmla="*/ 0 h 6858000"/>
              <a:gd name="connsiteX2" fmla="*/ 4936862 w 6086857"/>
              <a:gd name="connsiteY2" fmla="*/ 69271 h 6858000"/>
              <a:gd name="connsiteX3" fmla="*/ 6086857 w 6086857"/>
              <a:gd name="connsiteY3" fmla="*/ 3429000 h 6858000"/>
              <a:gd name="connsiteX4" fmla="*/ 4936862 w 6086857"/>
              <a:gd name="connsiteY4" fmla="*/ 6788730 h 6858000"/>
              <a:gd name="connsiteX5" fmla="*/ 4873879 w 6086857"/>
              <a:gd name="connsiteY5" fmla="*/ 6858000 h 6858000"/>
              <a:gd name="connsiteX6" fmla="*/ 0 w 608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857" h="6858000">
                <a:moveTo>
                  <a:pt x="0" y="0"/>
                </a:moveTo>
                <a:lnTo>
                  <a:pt x="4873879" y="0"/>
                </a:lnTo>
                <a:lnTo>
                  <a:pt x="4936862" y="69271"/>
                </a:lnTo>
                <a:cubicBezTo>
                  <a:pt x="5647388" y="929100"/>
                  <a:pt x="6086857" y="2116944"/>
                  <a:pt x="6086857" y="3429000"/>
                </a:cubicBezTo>
                <a:cubicBezTo>
                  <a:pt x="6086857" y="4741056"/>
                  <a:pt x="5647388" y="5928900"/>
                  <a:pt x="4936862" y="6788730"/>
                </a:cubicBezTo>
                <a:lnTo>
                  <a:pt x="487387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281178" y="856488"/>
            <a:ext cx="3744468" cy="1243584"/>
          </a:xfrm>
        </p:spPr>
        <p:txBody>
          <a:bodyPr anchor="ctr">
            <a:normAutofit/>
          </a:bodyPr>
          <a:lstStyle/>
          <a:p>
            <a:r>
              <a:rPr lang="en-US" sz="3000"/>
              <a:t>Reflection</a:t>
            </a:r>
          </a:p>
        </p:txBody>
      </p:sp>
      <p:sp>
        <p:nvSpPr>
          <p:cNvPr id="15" name="Rectangle 14">
            <a:extLst>
              <a:ext uri="{FF2B5EF4-FFF2-40B4-BE49-F238E27FC236}">
                <a16:creationId xmlns:a16="http://schemas.microsoft.com/office/drawing/2014/main" id="{C0036C6B-F09C-4EAB-AE02-8D056EE748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4325"/>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FC8D5885-2804-4D3C-BE31-902E4D32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8326" y="2195336"/>
            <a:ext cx="373761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281178" y="2522949"/>
            <a:ext cx="3799332" cy="3402363"/>
          </a:xfrm>
        </p:spPr>
        <p:txBody>
          <a:bodyPr anchor="t">
            <a:normAutofit/>
          </a:bodyPr>
          <a:lstStyle/>
          <a:p>
            <a:r>
              <a:rPr lang="en-US" sz="1700"/>
              <a:t>Creating this artifact deepened my understanding of how neural networks process and learn from data. Using TensorFlow Playground clarified how small architectural changes affect performance. This exercise improved my ability to explain AI concepts visually—a valuable skill for applying AI insights in my role as an AVP in Retail Banking.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548</Words>
  <Application>Microsoft Office PowerPoint</Application>
  <PresentationFormat>On-screen Show (4:3)</PresentationFormat>
  <Paragraphs>58</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Understanding Neural Network Components</vt:lpstr>
      <vt:lpstr>What is a Neural Network?</vt:lpstr>
      <vt:lpstr>Structure of a Neural Network</vt:lpstr>
      <vt:lpstr>Neurons</vt:lpstr>
      <vt:lpstr>Weights</vt:lpstr>
      <vt:lpstr>Activation Functions</vt:lpstr>
      <vt:lpstr>Loss Function</vt:lpstr>
      <vt:lpstr>Optimization Algorithms</vt:lpstr>
      <vt:lpstr>Neural Network Workflow</vt:lpstr>
      <vt:lpstr>Insights from TensorFlow Playground</vt:lpstr>
      <vt:lpstr>Key Takeaways</vt:lpstr>
      <vt:lpstr>Reflection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Yuvashree Srinivas</cp:lastModifiedBy>
  <cp:revision>2</cp:revision>
  <dcterms:created xsi:type="dcterms:W3CDTF">2013-01-27T09:14:16Z</dcterms:created>
  <dcterms:modified xsi:type="dcterms:W3CDTF">2025-11-10T00:36:37Z</dcterms:modified>
  <cp:category/>
</cp:coreProperties>
</file>